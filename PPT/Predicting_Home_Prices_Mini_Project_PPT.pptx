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7" r:id="rId11"/>
  </p:sldIdLst>
  <p:sldSz cx="18288000" cy="10287000"/>
  <p:notesSz cx="6858000" cy="9144000"/>
  <p:embeddedFontLst>
    <p:embeddedFont>
      <p:font typeface="Calibri" panose="020F0502020204030204" pitchFamily="34" charset="0"/>
      <p:regular r:id="rId12"/>
      <p:bold r:id="rId13"/>
      <p:italic r:id="rId14"/>
      <p:boldItalic r:id="rId15"/>
    </p:embeddedFont>
    <p:embeddedFont>
      <p:font typeface="Times New Roman Bold" panose="02020803070505020304" pitchFamily="18" charset="0"/>
      <p:regular r:id="rId16"/>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52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8251" autoAdjust="0"/>
  </p:normalViewPr>
  <p:slideViewPr>
    <p:cSldViewPr>
      <p:cViewPr varScale="1">
        <p:scale>
          <a:sx n="43" d="100"/>
          <a:sy n="43" d="100"/>
        </p:scale>
        <p:origin x="936"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jpe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7.svg"/><Relationship Id="rId7"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6.png"/><Relationship Id="rId7"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12.png"/><Relationship Id="rId4" Type="http://schemas.openxmlformats.org/officeDocument/2006/relationships/image" Target="../media/image3.svg"/><Relationship Id="rId9"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6.png"/><Relationship Id="rId7"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 Id="rId9" Type="http://schemas.openxmlformats.org/officeDocument/2006/relationships/image" Target="../media/image13.jpeg"/></Relationships>
</file>

<file path=ppt/slides/_rels/slide10.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EED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0167" cy="2340313"/>
            <a:chOff x="0" y="0"/>
            <a:chExt cx="5157178" cy="616379"/>
          </a:xfrm>
        </p:grpSpPr>
        <p:sp>
          <p:nvSpPr>
            <p:cNvPr id="3" name="Freeform 3"/>
            <p:cNvSpPr/>
            <p:nvPr/>
          </p:nvSpPr>
          <p:spPr>
            <a:xfrm>
              <a:off x="0" y="0"/>
              <a:ext cx="5157177" cy="616379"/>
            </a:xfrm>
            <a:custGeom>
              <a:avLst/>
              <a:gdLst/>
              <a:ahLst/>
              <a:cxnLst/>
              <a:rect l="l" t="t" r="r" b="b"/>
              <a:pathLst>
                <a:path w="5157177" h="616379">
                  <a:moveTo>
                    <a:pt x="0" y="0"/>
                  </a:moveTo>
                  <a:lnTo>
                    <a:pt x="5157177" y="0"/>
                  </a:lnTo>
                  <a:lnTo>
                    <a:pt x="5157177" y="616379"/>
                  </a:lnTo>
                  <a:lnTo>
                    <a:pt x="0" y="616379"/>
                  </a:lnTo>
                  <a:close/>
                </a:path>
              </a:pathLst>
            </a:custGeom>
            <a:solidFill>
              <a:srgbClr val="F1B6B0"/>
            </a:solidFill>
          </p:spPr>
        </p:sp>
        <p:sp>
          <p:nvSpPr>
            <p:cNvPr id="4" name="TextBox 4"/>
            <p:cNvSpPr txBox="1"/>
            <p:nvPr/>
          </p:nvSpPr>
          <p:spPr>
            <a:xfrm>
              <a:off x="0" y="-38100"/>
              <a:ext cx="5157178" cy="654479"/>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3790475" y="2149037"/>
            <a:ext cx="10707049" cy="1987228"/>
          </a:xfrm>
          <a:custGeom>
            <a:avLst/>
            <a:gdLst/>
            <a:ahLst/>
            <a:cxnLst/>
            <a:rect l="l" t="t" r="r" b="b"/>
            <a:pathLst>
              <a:path w="10707049" h="1987228">
                <a:moveTo>
                  <a:pt x="0" y="0"/>
                </a:moveTo>
                <a:lnTo>
                  <a:pt x="10707050" y="0"/>
                </a:lnTo>
                <a:lnTo>
                  <a:pt x="10707050" y="1987229"/>
                </a:lnTo>
                <a:lnTo>
                  <a:pt x="0" y="1987229"/>
                </a:lnTo>
                <a:lnTo>
                  <a:pt x="0" y="0"/>
                </a:lnTo>
                <a:close/>
              </a:path>
            </a:pathLst>
          </a:custGeom>
          <a:blipFill>
            <a:blip r:embed="rId2"/>
            <a:stretch>
              <a:fillRect/>
            </a:stretch>
          </a:blipFill>
        </p:spPr>
      </p:sp>
      <p:sp>
        <p:nvSpPr>
          <p:cNvPr id="9" name="TextBox 9"/>
          <p:cNvSpPr txBox="1"/>
          <p:nvPr/>
        </p:nvSpPr>
        <p:spPr>
          <a:xfrm>
            <a:off x="7833" y="349447"/>
            <a:ext cx="18280167" cy="1698798"/>
          </a:xfrm>
          <a:prstGeom prst="rect">
            <a:avLst/>
          </a:prstGeom>
        </p:spPr>
        <p:txBody>
          <a:bodyPr wrap="square" lIns="0" tIns="0" rIns="0" bIns="0" rtlCol="0" anchor="t">
            <a:spAutoFit/>
          </a:bodyPr>
          <a:lstStyle/>
          <a:p>
            <a:pPr algn="ctr">
              <a:lnSpc>
                <a:spcPts val="6859"/>
              </a:lnSpc>
            </a:pPr>
            <a:r>
              <a:rPr lang="en-US" sz="5000" b="1" dirty="0">
                <a:latin typeface="Times New Roman" panose="02020603050405020304" pitchFamily="18" charset="0"/>
                <a:cs typeface="Times New Roman" panose="02020603050405020304" pitchFamily="18" charset="0"/>
              </a:rPr>
              <a:t>PREDICTING HOME PRICES WITH REGRESSION ANALYSIS USING BOSTON HOUSING DATASET</a:t>
            </a:r>
            <a:endParaRPr lang="en-US" sz="5000" b="1" dirty="0">
              <a:solidFill>
                <a:srgbClr val="241955"/>
              </a:solidFill>
              <a:latin typeface="Times New Roman" panose="02020603050405020304" pitchFamily="18" charset="0"/>
              <a:ea typeface="Times New Roman Bold"/>
              <a:cs typeface="Times New Roman" panose="02020603050405020304" pitchFamily="18" charset="0"/>
              <a:sym typeface="Times New Roman Bold"/>
            </a:endParaRPr>
          </a:p>
        </p:txBody>
      </p:sp>
      <p:sp>
        <p:nvSpPr>
          <p:cNvPr id="10" name="TextBox 10"/>
          <p:cNvSpPr txBox="1"/>
          <p:nvPr/>
        </p:nvSpPr>
        <p:spPr>
          <a:xfrm>
            <a:off x="6407155" y="4163724"/>
            <a:ext cx="5750050" cy="810863"/>
          </a:xfrm>
          <a:prstGeom prst="rect">
            <a:avLst/>
          </a:prstGeom>
        </p:spPr>
        <p:txBody>
          <a:bodyPr lIns="0" tIns="0" rIns="0" bIns="0" rtlCol="0" anchor="t">
            <a:spAutoFit/>
          </a:bodyPr>
          <a:lstStyle/>
          <a:p>
            <a:pPr algn="ctr">
              <a:lnSpc>
                <a:spcPts val="6859"/>
              </a:lnSpc>
            </a:pPr>
            <a:r>
              <a:rPr lang="en-US" sz="4899" b="1" dirty="0">
                <a:solidFill>
                  <a:srgbClr val="241955"/>
                </a:solidFill>
                <a:latin typeface="Times New Roman Bold"/>
                <a:ea typeface="Times New Roman Bold"/>
                <a:cs typeface="Times New Roman Bold"/>
                <a:sym typeface="Times New Roman Bold"/>
              </a:rPr>
              <a:t>Submitted by</a:t>
            </a:r>
          </a:p>
        </p:txBody>
      </p:sp>
      <p:sp>
        <p:nvSpPr>
          <p:cNvPr id="11" name="TextBox 11"/>
          <p:cNvSpPr txBox="1"/>
          <p:nvPr/>
        </p:nvSpPr>
        <p:spPr>
          <a:xfrm>
            <a:off x="5747162" y="7745193"/>
            <a:ext cx="7070036" cy="2172069"/>
          </a:xfrm>
          <a:prstGeom prst="rect">
            <a:avLst/>
          </a:prstGeom>
        </p:spPr>
        <p:txBody>
          <a:bodyPr lIns="0" tIns="0" rIns="0" bIns="0" rtlCol="0" anchor="t">
            <a:spAutoFit/>
          </a:bodyPr>
          <a:lstStyle/>
          <a:p>
            <a:pPr algn="ctr">
              <a:lnSpc>
                <a:spcPts val="6375"/>
              </a:lnSpc>
              <a:spcBef>
                <a:spcPct val="0"/>
              </a:spcBef>
            </a:pPr>
            <a:r>
              <a:rPr lang="en-US" sz="4000" dirty="0">
                <a:solidFill>
                  <a:srgbClr val="000000"/>
                </a:solidFill>
                <a:latin typeface="Times New Roman"/>
                <a:ea typeface="Times New Roman"/>
                <a:cs typeface="Times New Roman"/>
                <a:sym typeface="Times New Roman"/>
              </a:rPr>
              <a:t>Under the Supervision of</a:t>
            </a:r>
          </a:p>
          <a:p>
            <a:pPr algn="ctr"/>
            <a:r>
              <a:rPr lang="en-US" sz="40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Puneet </a:t>
            </a:r>
            <a:r>
              <a:rPr lang="en-US" sz="4000" b="1" dirty="0" err="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Shetteppanavar</a:t>
            </a:r>
            <a:r>
              <a:rPr lang="en-US" sz="40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4000" b="1" dirty="0">
              <a:solidFill>
                <a:srgbClr val="7030A0"/>
              </a:solidFill>
              <a:latin typeface="Times New Roman" panose="02020603050405020304" pitchFamily="18" charset="0"/>
              <a:cs typeface="Times New Roman" panose="02020603050405020304" pitchFamily="18" charset="0"/>
            </a:endParaRPr>
          </a:p>
          <a:p>
            <a:pPr algn="ctr">
              <a:lnSpc>
                <a:spcPts val="6375"/>
              </a:lnSpc>
              <a:spcBef>
                <a:spcPct val="0"/>
              </a:spcBef>
            </a:pPr>
            <a:r>
              <a:rPr lang="en-US" sz="4000" dirty="0">
                <a:solidFill>
                  <a:srgbClr val="000000"/>
                </a:solidFill>
                <a:latin typeface="Times New Roman"/>
                <a:ea typeface="Times New Roman"/>
                <a:cs typeface="Times New Roman"/>
                <a:sym typeface="Times New Roman"/>
              </a:rPr>
              <a:t>Assistant Professor</a:t>
            </a:r>
          </a:p>
        </p:txBody>
      </p:sp>
      <p:graphicFrame>
        <p:nvGraphicFramePr>
          <p:cNvPr id="6" name="Table 6">
            <a:extLst>
              <a:ext uri="{FF2B5EF4-FFF2-40B4-BE49-F238E27FC236}">
                <a16:creationId xmlns:a16="http://schemas.microsoft.com/office/drawing/2014/main" id="{6215F13B-C1CB-4CFA-B94A-CD336B218791}"/>
              </a:ext>
            </a:extLst>
          </p:cNvPr>
          <p:cNvGraphicFramePr>
            <a:graphicFrameLocks noGrp="1"/>
          </p:cNvGraphicFramePr>
          <p:nvPr>
            <p:extLst>
              <p:ext uri="{D42A27DB-BD31-4B8C-83A1-F6EECF244321}">
                <p14:modId xmlns:p14="http://schemas.microsoft.com/office/powerpoint/2010/main" val="3710889431"/>
              </p:ext>
            </p:extLst>
          </p:nvPr>
        </p:nvGraphicFramePr>
        <p:xfrm>
          <a:off x="5334000" y="5324494"/>
          <a:ext cx="8839200" cy="2194560"/>
        </p:xfrm>
        <a:graphic>
          <a:graphicData uri="http://schemas.openxmlformats.org/drawingml/2006/table">
            <a:tbl>
              <a:tblPr firstRow="1" bandRow="1">
                <a:tableStyleId>{2D5ABB26-0587-4C30-8999-92F81FD0307C}</a:tableStyleId>
              </a:tblPr>
              <a:tblGrid>
                <a:gridCol w="5394392">
                  <a:extLst>
                    <a:ext uri="{9D8B030D-6E8A-4147-A177-3AD203B41FA5}">
                      <a16:colId xmlns:a16="http://schemas.microsoft.com/office/drawing/2014/main" val="3100709205"/>
                    </a:ext>
                  </a:extLst>
                </a:gridCol>
                <a:gridCol w="3444808">
                  <a:extLst>
                    <a:ext uri="{9D8B030D-6E8A-4147-A177-3AD203B41FA5}">
                      <a16:colId xmlns:a16="http://schemas.microsoft.com/office/drawing/2014/main" val="4166056546"/>
                    </a:ext>
                  </a:extLst>
                </a:gridCol>
              </a:tblGrid>
              <a:tr h="0">
                <a:tc>
                  <a:txBody>
                    <a:bodyPr/>
                    <a:lstStyle/>
                    <a:p>
                      <a:pPr algn="just"/>
                      <a:r>
                        <a:rPr lang="en-US" sz="3000" dirty="0">
                          <a:latin typeface="Times New Roman" panose="02020603050405020304" pitchFamily="18" charset="0"/>
                          <a:cs typeface="Times New Roman" panose="02020603050405020304" pitchFamily="18" charset="0"/>
                        </a:rPr>
                        <a:t>Md. </a:t>
                      </a:r>
                      <a:r>
                        <a:rPr lang="en-US" sz="3000" dirty="0" err="1">
                          <a:latin typeface="Times New Roman" panose="02020603050405020304" pitchFamily="18" charset="0"/>
                          <a:cs typeface="Times New Roman" panose="02020603050405020304" pitchFamily="18" charset="0"/>
                        </a:rPr>
                        <a:t>Ammaar</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Quadri</a:t>
                      </a:r>
                      <a:endParaRPr lang="en-US" sz="3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US" sz="3000" dirty="0">
                          <a:latin typeface="Times New Roman" panose="02020603050405020304" pitchFamily="18" charset="0"/>
                          <a:cs typeface="Times New Roman" panose="02020603050405020304" pitchFamily="18" charset="0"/>
                        </a:rPr>
                        <a:t>21E41A3312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46942487"/>
                  </a:ext>
                </a:extLst>
              </a:tr>
              <a:tr h="449975">
                <a:tc>
                  <a:txBody>
                    <a:bodyPr/>
                    <a:lstStyle/>
                    <a:p>
                      <a:pPr algn="just"/>
                      <a:r>
                        <a:rPr lang="en-US" sz="3000" dirty="0">
                          <a:latin typeface="Times New Roman" panose="02020603050405020304" pitchFamily="18" charset="0"/>
                          <a:cs typeface="Times New Roman" panose="02020603050405020304" pitchFamily="18" charset="0"/>
                        </a:rPr>
                        <a:t>M. </a:t>
                      </a:r>
                      <a:r>
                        <a:rPr lang="en-US" sz="3000" dirty="0" err="1">
                          <a:latin typeface="Times New Roman" panose="02020603050405020304" pitchFamily="18" charset="0"/>
                          <a:cs typeface="Times New Roman" panose="02020603050405020304" pitchFamily="18" charset="0"/>
                        </a:rPr>
                        <a:t>Sahithi</a:t>
                      </a:r>
                      <a:endParaRPr lang="en-US" sz="3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US" sz="3000" dirty="0">
                          <a:latin typeface="Times New Roman" panose="02020603050405020304" pitchFamily="18" charset="0"/>
                          <a:cs typeface="Times New Roman" panose="02020603050405020304" pitchFamily="18" charset="0"/>
                        </a:rPr>
                        <a:t>21E41A3313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7515267"/>
                  </a:ext>
                </a:extLst>
              </a:tr>
              <a:tr h="370840">
                <a:tc>
                  <a:txBody>
                    <a:bodyPr/>
                    <a:lstStyle/>
                    <a:p>
                      <a:pPr algn="just"/>
                      <a:r>
                        <a:rPr lang="en-US" sz="3000" dirty="0" err="1">
                          <a:latin typeface="Times New Roman" panose="02020603050405020304" pitchFamily="18" charset="0"/>
                          <a:cs typeface="Times New Roman" panose="02020603050405020304" pitchFamily="18" charset="0"/>
                        </a:rPr>
                        <a:t>Mohd</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Arbas</a:t>
                      </a:r>
                      <a:endParaRPr lang="en-US" sz="3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US" sz="3000" dirty="0">
                          <a:latin typeface="Times New Roman" panose="02020603050405020304" pitchFamily="18" charset="0"/>
                          <a:cs typeface="Times New Roman" panose="02020603050405020304" pitchFamily="18" charset="0"/>
                        </a:rPr>
                        <a:t>21E41A3314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70457683"/>
                  </a:ext>
                </a:extLst>
              </a:tr>
              <a:tr h="0">
                <a:tc>
                  <a:txBody>
                    <a:bodyPr/>
                    <a:lstStyle/>
                    <a:p>
                      <a:pPr algn="just"/>
                      <a:r>
                        <a:rPr lang="en-US" sz="3000" dirty="0">
                          <a:latin typeface="Times New Roman" panose="02020603050405020304" pitchFamily="18" charset="0"/>
                          <a:cs typeface="Times New Roman" panose="02020603050405020304" pitchFamily="18" charset="0"/>
                        </a:rPr>
                        <a:t>P.S Jyothi</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US" sz="3000" dirty="0">
                          <a:latin typeface="Times New Roman" panose="02020603050405020304" pitchFamily="18" charset="0"/>
                          <a:cs typeface="Times New Roman" panose="02020603050405020304" pitchFamily="18" charset="0"/>
                        </a:rPr>
                        <a:t>22E45A3301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14792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EED9"/>
        </a:solidFill>
        <a:effectLst/>
      </p:bgPr>
    </p:bg>
    <p:spTree>
      <p:nvGrpSpPr>
        <p:cNvPr id="1" name=""/>
        <p:cNvGrpSpPr/>
        <p:nvPr/>
      </p:nvGrpSpPr>
      <p:grpSpPr>
        <a:xfrm>
          <a:off x="0" y="0"/>
          <a:ext cx="0" cy="0"/>
          <a:chOff x="0" y="0"/>
          <a:chExt cx="0" cy="0"/>
        </a:xfrm>
      </p:grpSpPr>
      <p:sp>
        <p:nvSpPr>
          <p:cNvPr id="2" name="Freeform 2"/>
          <p:cNvSpPr/>
          <p:nvPr/>
        </p:nvSpPr>
        <p:spPr>
          <a:xfrm flipH="1">
            <a:off x="2045275" y="6773619"/>
            <a:ext cx="1458698" cy="3513381"/>
          </a:xfrm>
          <a:custGeom>
            <a:avLst/>
            <a:gdLst/>
            <a:ahLst/>
            <a:cxnLst/>
            <a:rect l="l" t="t" r="r" b="b"/>
            <a:pathLst>
              <a:path w="1458698" h="4135485">
                <a:moveTo>
                  <a:pt x="1458699" y="0"/>
                </a:moveTo>
                <a:lnTo>
                  <a:pt x="0" y="0"/>
                </a:lnTo>
                <a:lnTo>
                  <a:pt x="0" y="4135485"/>
                </a:lnTo>
                <a:lnTo>
                  <a:pt x="1458699" y="4135485"/>
                </a:lnTo>
                <a:lnTo>
                  <a:pt x="145869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7200900"/>
            <a:ext cx="2557976" cy="30861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0" y="4272047"/>
            <a:ext cx="2045276" cy="3255080"/>
          </a:xfrm>
          <a:custGeom>
            <a:avLst/>
            <a:gdLst/>
            <a:ahLst/>
            <a:cxnLst/>
            <a:rect l="l" t="t" r="r" b="b"/>
            <a:pathLst>
              <a:path w="3549007" h="3255080">
                <a:moveTo>
                  <a:pt x="0" y="0"/>
                </a:moveTo>
                <a:lnTo>
                  <a:pt x="3549006" y="0"/>
                </a:lnTo>
                <a:lnTo>
                  <a:pt x="3549006" y="3255080"/>
                </a:lnTo>
                <a:lnTo>
                  <a:pt x="0" y="32550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4909931" y="1735659"/>
            <a:ext cx="12349369" cy="4924425"/>
          </a:xfrm>
          <a:prstGeom prst="rect">
            <a:avLst/>
          </a:prstGeom>
        </p:spPr>
        <p:txBody>
          <a:bodyPr lIns="0" tIns="0" rIns="0" bIns="0" rtlCol="0" anchor="t">
            <a:spAutoFit/>
          </a:bodyPr>
          <a:lstStyle/>
          <a:p>
            <a:pPr marL="519476" lvl="1" indent="-259738" algn="just">
              <a:buFont typeface="Arial"/>
              <a:buChar char="•"/>
            </a:pPr>
            <a:r>
              <a:rPr lang="en-US" sz="3200" dirty="0">
                <a:latin typeface="Times New Roman" panose="02020603050405020304" pitchFamily="18" charset="0"/>
                <a:cs typeface="Times New Roman" panose="02020603050405020304" pitchFamily="18" charset="0"/>
              </a:rPr>
              <a:t>Accurately predict home prices, enabling informed buying and selling decisions in the real estate market.</a:t>
            </a:r>
          </a:p>
          <a:p>
            <a:pPr marL="519476" lvl="1" indent="-259738" algn="just">
              <a:buFont typeface="Arial"/>
              <a:buChar char="•"/>
            </a:pPr>
            <a:r>
              <a:rPr lang="en-US" sz="3200" dirty="0">
                <a:latin typeface="Times New Roman" panose="02020603050405020304" pitchFamily="18" charset="0"/>
                <a:cs typeface="Times New Roman" panose="02020603050405020304" pitchFamily="18" charset="0"/>
              </a:rPr>
              <a:t>Leverage regression models to uncover key factors affecting property values, such as crime rates, proximity to amenities, and tax rates.</a:t>
            </a:r>
          </a:p>
          <a:p>
            <a:pPr marL="519476" lvl="1" indent="-259738" algn="just">
              <a:buFont typeface="Arial"/>
              <a:buChar char="•"/>
            </a:pPr>
            <a:r>
              <a:rPr lang="en-US" sz="3200" dirty="0">
                <a:latin typeface="Times New Roman" panose="02020603050405020304" pitchFamily="18" charset="0"/>
                <a:cs typeface="Times New Roman" panose="02020603050405020304" pitchFamily="18" charset="0"/>
              </a:rPr>
              <a:t>Automate the prediction process, making real estate analysis faster and more efficient for market stakeholders.</a:t>
            </a:r>
          </a:p>
          <a:p>
            <a:pPr marL="519476" lvl="1" indent="-259738" algn="just">
              <a:buFont typeface="Arial"/>
              <a:buChar char="•"/>
            </a:pPr>
            <a:r>
              <a:rPr lang="en-US" sz="3200" dirty="0">
                <a:latin typeface="Times New Roman" panose="02020603050405020304" pitchFamily="18" charset="0"/>
                <a:cs typeface="Times New Roman" panose="02020603050405020304" pitchFamily="18" charset="0"/>
              </a:rPr>
              <a:t>Assist urban planners and policymakers by providing data-driven insights for better infrastructure development and housing policies.</a:t>
            </a:r>
          </a:p>
          <a:p>
            <a:pPr marL="519476" lvl="1" indent="-259738" algn="just">
              <a:buFont typeface="Arial"/>
              <a:buChar char="•"/>
            </a:pPr>
            <a:r>
              <a:rPr lang="en-US" sz="3200" dirty="0">
                <a:latin typeface="Times New Roman" panose="02020603050405020304" pitchFamily="18" charset="0"/>
                <a:cs typeface="Times New Roman" panose="02020603050405020304" pitchFamily="18" charset="0"/>
              </a:rPr>
              <a:t>Utilize the growing availability of housing datasets to enhance the accuracy and reliability of predictive analytics.</a:t>
            </a:r>
          </a:p>
        </p:txBody>
      </p:sp>
      <p:sp>
        <p:nvSpPr>
          <p:cNvPr id="7" name="TextBox 7"/>
          <p:cNvSpPr txBox="1"/>
          <p:nvPr/>
        </p:nvSpPr>
        <p:spPr>
          <a:xfrm>
            <a:off x="4909931" y="490811"/>
            <a:ext cx="9865465" cy="817531"/>
          </a:xfrm>
          <a:prstGeom prst="rect">
            <a:avLst/>
          </a:prstGeom>
        </p:spPr>
        <p:txBody>
          <a:bodyPr lIns="0" tIns="0" rIns="0" bIns="0" rtlCol="0" anchor="t">
            <a:spAutoFit/>
          </a:bodyPr>
          <a:lstStyle/>
          <a:p>
            <a:pPr algn="l">
              <a:lnSpc>
                <a:spcPts val="7000"/>
              </a:lnSpc>
            </a:pPr>
            <a:r>
              <a:rPr lang="en-US" sz="4800" b="1">
                <a:solidFill>
                  <a:srgbClr val="241955"/>
                </a:solidFill>
                <a:latin typeface="Times New Roman Bold"/>
                <a:ea typeface="Times New Roman Bold"/>
                <a:cs typeface="Times New Roman Bold"/>
                <a:sym typeface="Times New Roman Bold"/>
              </a:rPr>
              <a:t>Motivation</a:t>
            </a:r>
          </a:p>
        </p:txBody>
      </p:sp>
      <p:sp>
        <p:nvSpPr>
          <p:cNvPr id="8" name="Freeform 8"/>
          <p:cNvSpPr/>
          <p:nvPr/>
        </p:nvSpPr>
        <p:spPr>
          <a:xfrm>
            <a:off x="0" y="0"/>
            <a:ext cx="1923562" cy="1768990"/>
          </a:xfrm>
          <a:custGeom>
            <a:avLst/>
            <a:gdLst/>
            <a:ahLst/>
            <a:cxnLst/>
            <a:rect l="l" t="t" r="r" b="b"/>
            <a:pathLst>
              <a:path w="1923562" h="1768990">
                <a:moveTo>
                  <a:pt x="0" y="0"/>
                </a:moveTo>
                <a:lnTo>
                  <a:pt x="1923562" y="0"/>
                </a:lnTo>
                <a:lnTo>
                  <a:pt x="1923562" y="1768990"/>
                </a:lnTo>
                <a:lnTo>
                  <a:pt x="0" y="1768990"/>
                </a:lnTo>
                <a:lnTo>
                  <a:pt x="0" y="0"/>
                </a:lnTo>
                <a:close/>
              </a:path>
            </a:pathLst>
          </a:custGeom>
          <a:blipFill>
            <a:blip r:embed="rId8">
              <a:alphaModFix amt="84000"/>
            </a:blip>
            <a:stretch>
              <a:fillRect/>
            </a:stretch>
          </a:blipFill>
        </p:spPr>
      </p:sp>
      <p:pic>
        <p:nvPicPr>
          <p:cNvPr id="9" name="Picture 8">
            <a:extLst>
              <a:ext uri="{FF2B5EF4-FFF2-40B4-BE49-F238E27FC236}">
                <a16:creationId xmlns:a16="http://schemas.microsoft.com/office/drawing/2014/main" id="{B0BBA9C9-0F95-4A4D-A527-2AFFA291871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114263" y="6917469"/>
            <a:ext cx="3239912" cy="28787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EED9"/>
        </a:solidFill>
        <a:effectLst/>
      </p:bgPr>
    </p:bg>
    <p:spTree>
      <p:nvGrpSpPr>
        <p:cNvPr id="1" name=""/>
        <p:cNvGrpSpPr/>
        <p:nvPr/>
      </p:nvGrpSpPr>
      <p:grpSpPr>
        <a:xfrm>
          <a:off x="0" y="0"/>
          <a:ext cx="0" cy="0"/>
          <a:chOff x="0" y="0"/>
          <a:chExt cx="0" cy="0"/>
        </a:xfrm>
      </p:grpSpPr>
      <p:sp>
        <p:nvSpPr>
          <p:cNvPr id="2" name="Freeform 2"/>
          <p:cNvSpPr/>
          <p:nvPr/>
        </p:nvSpPr>
        <p:spPr>
          <a:xfrm flipH="1">
            <a:off x="2045275" y="6773619"/>
            <a:ext cx="1458698" cy="3513381"/>
          </a:xfrm>
          <a:custGeom>
            <a:avLst/>
            <a:gdLst/>
            <a:ahLst/>
            <a:cxnLst/>
            <a:rect l="l" t="t" r="r" b="b"/>
            <a:pathLst>
              <a:path w="1458698" h="4135485">
                <a:moveTo>
                  <a:pt x="1458699" y="0"/>
                </a:moveTo>
                <a:lnTo>
                  <a:pt x="0" y="0"/>
                </a:lnTo>
                <a:lnTo>
                  <a:pt x="0" y="4135485"/>
                </a:lnTo>
                <a:lnTo>
                  <a:pt x="1458699" y="4135485"/>
                </a:lnTo>
                <a:lnTo>
                  <a:pt x="145869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7200900"/>
            <a:ext cx="2557976" cy="30861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0" y="4272047"/>
            <a:ext cx="2045276" cy="3255080"/>
          </a:xfrm>
          <a:custGeom>
            <a:avLst/>
            <a:gdLst/>
            <a:ahLst/>
            <a:cxnLst/>
            <a:rect l="l" t="t" r="r" b="b"/>
            <a:pathLst>
              <a:path w="3549007" h="3255080">
                <a:moveTo>
                  <a:pt x="0" y="0"/>
                </a:moveTo>
                <a:lnTo>
                  <a:pt x="3549006" y="0"/>
                </a:lnTo>
                <a:lnTo>
                  <a:pt x="3549006" y="3255080"/>
                </a:lnTo>
                <a:lnTo>
                  <a:pt x="0" y="32550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4909931" y="1616590"/>
            <a:ext cx="12349369" cy="8632876"/>
          </a:xfrm>
          <a:prstGeom prst="rect">
            <a:avLst/>
          </a:prstGeom>
        </p:spPr>
        <p:txBody>
          <a:bodyPr lIns="0" tIns="0" rIns="0" bIns="0" rtlCol="0" anchor="t">
            <a:spAutoFit/>
          </a:bodyPr>
          <a:lstStyle/>
          <a:p>
            <a:pPr marL="457200" indent="-457200" algn="just">
              <a:buFont typeface="Arial" panose="020B0604020202020204" pitchFamily="34" charset="0"/>
              <a:buChar char="•"/>
            </a:pPr>
            <a:r>
              <a:rPr lang="en-US" sz="3100" dirty="0">
                <a:latin typeface="Times New Roman" panose="02020603050405020304" pitchFamily="18" charset="0"/>
                <a:cs typeface="Times New Roman" panose="02020603050405020304" pitchFamily="18" charset="0"/>
              </a:rPr>
              <a:t>The real estate market is highly dynamic, with home prices influenced by various factors such as location, crime rates, property size, and tax rates. Accurate prediction of housing prices is crucial for potential buyers, sellers, real estate developers, and policymakers to make informed decisions. This project explores the use of regression analysis, a widely-used machine learning technique, to model and predict home prices based on the well-known Boston Housing Dataset. The dataset provides valuable information, including property features and neighborhood statistics, making it an ideal choice for price prediction analysis.</a:t>
            </a:r>
          </a:p>
          <a:p>
            <a:pPr marL="457200" indent="-457200" algn="just">
              <a:buFont typeface="Arial" panose="020B0604020202020204" pitchFamily="34" charset="0"/>
              <a:buChar char="•"/>
            </a:pPr>
            <a:r>
              <a:rPr lang="en-US" sz="3100" dirty="0">
                <a:latin typeface="Times New Roman" panose="02020603050405020304" pitchFamily="18" charset="0"/>
                <a:cs typeface="Times New Roman" panose="02020603050405020304" pitchFamily="18" charset="0"/>
              </a:rPr>
              <a:t>By leveraging regression models, this project aims to uncover the relationships between various features and property prices to develop a reliable price prediction system. Such predictions can empower market stakeholders with actionable insights while assisting urban planners in identifying factors impacting property values. Additionally, this study offers a hands-on experience in data preprocessing, feature selection, and machine learning, making it a significant step toward applying theoretical concepts to real-world applications in predictive analytics.</a:t>
            </a:r>
          </a:p>
          <a:p>
            <a:pPr marL="649013" lvl="1" indent="-324507" algn="just">
              <a:lnSpc>
                <a:spcPts val="4509"/>
              </a:lnSpc>
              <a:buFont typeface="Arial"/>
              <a:buChar char="•"/>
            </a:pPr>
            <a:endParaRPr lang="en-US" sz="3000" dirty="0">
              <a:solidFill>
                <a:srgbClr val="000000"/>
              </a:solidFill>
              <a:latin typeface="Times New Roman"/>
              <a:ea typeface="Times New Roman"/>
              <a:cs typeface="Times New Roman"/>
              <a:sym typeface="Times New Roman"/>
            </a:endParaRPr>
          </a:p>
        </p:txBody>
      </p:sp>
      <p:sp>
        <p:nvSpPr>
          <p:cNvPr id="7" name="TextBox 7"/>
          <p:cNvSpPr txBox="1"/>
          <p:nvPr/>
        </p:nvSpPr>
        <p:spPr>
          <a:xfrm>
            <a:off x="4909931" y="490811"/>
            <a:ext cx="9865465" cy="817531"/>
          </a:xfrm>
          <a:prstGeom prst="rect">
            <a:avLst/>
          </a:prstGeom>
        </p:spPr>
        <p:txBody>
          <a:bodyPr lIns="0" tIns="0" rIns="0" bIns="0" rtlCol="0" anchor="t">
            <a:spAutoFit/>
          </a:bodyPr>
          <a:lstStyle/>
          <a:p>
            <a:pPr algn="l">
              <a:lnSpc>
                <a:spcPts val="7000"/>
              </a:lnSpc>
            </a:pPr>
            <a:r>
              <a:rPr lang="en-US" sz="4800" b="1">
                <a:solidFill>
                  <a:srgbClr val="241955"/>
                </a:solidFill>
                <a:latin typeface="Times New Roman Bold"/>
                <a:ea typeface="Times New Roman Bold"/>
                <a:cs typeface="Times New Roman Bold"/>
                <a:sym typeface="Times New Roman Bold"/>
              </a:rPr>
              <a:t>Introduction</a:t>
            </a:r>
          </a:p>
        </p:txBody>
      </p:sp>
      <p:sp>
        <p:nvSpPr>
          <p:cNvPr id="8" name="Freeform 8"/>
          <p:cNvSpPr/>
          <p:nvPr/>
        </p:nvSpPr>
        <p:spPr>
          <a:xfrm>
            <a:off x="0" y="0"/>
            <a:ext cx="1923562" cy="1768990"/>
          </a:xfrm>
          <a:custGeom>
            <a:avLst/>
            <a:gdLst/>
            <a:ahLst/>
            <a:cxnLst/>
            <a:rect l="l" t="t" r="r" b="b"/>
            <a:pathLst>
              <a:path w="1923562" h="1768990">
                <a:moveTo>
                  <a:pt x="0" y="0"/>
                </a:moveTo>
                <a:lnTo>
                  <a:pt x="1923562" y="0"/>
                </a:lnTo>
                <a:lnTo>
                  <a:pt x="1923562" y="1768990"/>
                </a:lnTo>
                <a:lnTo>
                  <a:pt x="0" y="1768990"/>
                </a:lnTo>
                <a:lnTo>
                  <a:pt x="0" y="0"/>
                </a:lnTo>
                <a:close/>
              </a:path>
            </a:pathLst>
          </a:custGeom>
          <a:blipFill>
            <a:blip r:embed="rId8">
              <a:alphaModFix amt="84000"/>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EED9"/>
        </a:solidFill>
        <a:effectLst/>
      </p:bgPr>
    </p:bg>
    <p:spTree>
      <p:nvGrpSpPr>
        <p:cNvPr id="1" name=""/>
        <p:cNvGrpSpPr/>
        <p:nvPr/>
      </p:nvGrpSpPr>
      <p:grpSpPr>
        <a:xfrm>
          <a:off x="0" y="0"/>
          <a:ext cx="0" cy="0"/>
          <a:chOff x="0" y="0"/>
          <a:chExt cx="0" cy="0"/>
        </a:xfrm>
      </p:grpSpPr>
      <p:sp>
        <p:nvSpPr>
          <p:cNvPr id="2" name="Freeform 2"/>
          <p:cNvSpPr/>
          <p:nvPr/>
        </p:nvSpPr>
        <p:spPr>
          <a:xfrm flipH="1">
            <a:off x="2045275" y="6773619"/>
            <a:ext cx="1458698" cy="3513381"/>
          </a:xfrm>
          <a:custGeom>
            <a:avLst/>
            <a:gdLst/>
            <a:ahLst/>
            <a:cxnLst/>
            <a:rect l="l" t="t" r="r" b="b"/>
            <a:pathLst>
              <a:path w="1458698" h="4135485">
                <a:moveTo>
                  <a:pt x="1458699" y="0"/>
                </a:moveTo>
                <a:lnTo>
                  <a:pt x="0" y="0"/>
                </a:lnTo>
                <a:lnTo>
                  <a:pt x="0" y="4135485"/>
                </a:lnTo>
                <a:lnTo>
                  <a:pt x="1458699" y="4135485"/>
                </a:lnTo>
                <a:lnTo>
                  <a:pt x="145869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7200900"/>
            <a:ext cx="2557976" cy="30861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0" y="4272047"/>
            <a:ext cx="2045276" cy="3255080"/>
          </a:xfrm>
          <a:custGeom>
            <a:avLst/>
            <a:gdLst/>
            <a:ahLst/>
            <a:cxnLst/>
            <a:rect l="l" t="t" r="r" b="b"/>
            <a:pathLst>
              <a:path w="3549007" h="3255080">
                <a:moveTo>
                  <a:pt x="0" y="0"/>
                </a:moveTo>
                <a:lnTo>
                  <a:pt x="3549006" y="0"/>
                </a:lnTo>
                <a:lnTo>
                  <a:pt x="3549006" y="3255080"/>
                </a:lnTo>
                <a:lnTo>
                  <a:pt x="0" y="32550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4909931" y="1616590"/>
            <a:ext cx="12349369" cy="6889065"/>
          </a:xfrm>
          <a:prstGeom prst="rect">
            <a:avLst/>
          </a:prstGeom>
        </p:spPr>
        <p:txBody>
          <a:bodyPr lIns="0" tIns="0" rIns="0" bIns="0" rtlCol="0" anchor="t">
            <a:spAutoFit/>
          </a:bodyPr>
          <a:lstStyle/>
          <a:p>
            <a:pPr marL="649013" lvl="1" indent="-324507" algn="just">
              <a:lnSpc>
                <a:spcPts val="4509"/>
              </a:lnSpc>
              <a:buFont typeface="Arial"/>
              <a:buChar char="•"/>
            </a:pPr>
            <a:r>
              <a:rPr lang="en-US" sz="3200" dirty="0">
                <a:latin typeface="Times New Roman" panose="02020603050405020304" pitchFamily="18" charset="0"/>
                <a:cs typeface="Times New Roman" panose="02020603050405020304" pitchFamily="18" charset="0"/>
              </a:rPr>
              <a:t>Accurately predict home prices using regression analysis models based on the Boston Housing Dataset.</a:t>
            </a:r>
          </a:p>
          <a:p>
            <a:pPr marL="649013" lvl="1" indent="-324507" algn="just">
              <a:lnSpc>
                <a:spcPts val="4509"/>
              </a:lnSpc>
              <a:buFont typeface="Arial"/>
              <a:buChar char="•"/>
            </a:pPr>
            <a:r>
              <a:rPr lang="en-US" sz="3200" dirty="0">
                <a:latin typeface="Times New Roman" panose="02020603050405020304" pitchFamily="18" charset="0"/>
                <a:cs typeface="Times New Roman" panose="02020603050405020304" pitchFamily="18" charset="0"/>
              </a:rPr>
              <a:t>Identify and analyze key factors that influence property values, such as crime rates, property size, and tax levels.</a:t>
            </a:r>
          </a:p>
          <a:p>
            <a:pPr marL="649013" lvl="1" indent="-324507" algn="just">
              <a:lnSpc>
                <a:spcPts val="4509"/>
              </a:lnSpc>
              <a:buFont typeface="Arial"/>
              <a:buChar char="•"/>
            </a:pPr>
            <a:r>
              <a:rPr lang="en-US" sz="3200" dirty="0">
                <a:latin typeface="Times New Roman" panose="02020603050405020304" pitchFamily="18" charset="0"/>
                <a:cs typeface="Times New Roman" panose="02020603050405020304" pitchFamily="18" charset="0"/>
              </a:rPr>
              <a:t>Develop a robust machine learning pipeline for data preprocessing, feature selection, and model training.</a:t>
            </a:r>
          </a:p>
          <a:p>
            <a:pPr marL="649013" lvl="1" indent="-324507" algn="just">
              <a:lnSpc>
                <a:spcPts val="4509"/>
              </a:lnSpc>
              <a:buFont typeface="Arial"/>
              <a:buChar char="•"/>
            </a:pPr>
            <a:r>
              <a:rPr lang="en-US" sz="3200" dirty="0">
                <a:latin typeface="Times New Roman" panose="02020603050405020304" pitchFamily="18" charset="0"/>
                <a:cs typeface="Times New Roman" panose="02020603050405020304" pitchFamily="18" charset="0"/>
              </a:rPr>
              <a:t>Evaluate the performance of regression models using appropriate evaluation metrics to ensure prediction accuracy.</a:t>
            </a:r>
          </a:p>
          <a:p>
            <a:pPr marL="649013" lvl="1" indent="-324507" algn="just">
              <a:lnSpc>
                <a:spcPts val="4509"/>
              </a:lnSpc>
              <a:buFont typeface="Arial"/>
              <a:buChar char="•"/>
            </a:pPr>
            <a:r>
              <a:rPr lang="en-US" sz="3200" dirty="0">
                <a:latin typeface="Times New Roman" panose="02020603050405020304" pitchFamily="18" charset="0"/>
                <a:cs typeface="Times New Roman" panose="02020603050405020304" pitchFamily="18" charset="0"/>
              </a:rPr>
              <a:t>Provide actionable insights for real estate market stakeholders and urban planners to support informed decision-making. </a:t>
            </a:r>
          </a:p>
          <a:p>
            <a:pPr marL="649013" lvl="1" indent="-324507" algn="just">
              <a:lnSpc>
                <a:spcPts val="4509"/>
              </a:lnSpc>
              <a:buFont typeface="Arial"/>
              <a:buChar char="•"/>
            </a:pPr>
            <a:r>
              <a:rPr lang="en-US" sz="3200" dirty="0">
                <a:latin typeface="Times New Roman" panose="02020603050405020304" pitchFamily="18" charset="0"/>
                <a:cs typeface="Times New Roman" panose="02020603050405020304" pitchFamily="18" charset="0"/>
              </a:rPr>
              <a:t>Gain hands-on experience in applying regression techniques and enhancing predictive analytics skills for real-world applications.</a:t>
            </a:r>
          </a:p>
        </p:txBody>
      </p:sp>
      <p:sp>
        <p:nvSpPr>
          <p:cNvPr id="7" name="TextBox 7"/>
          <p:cNvSpPr txBox="1"/>
          <p:nvPr/>
        </p:nvSpPr>
        <p:spPr>
          <a:xfrm>
            <a:off x="4909931" y="490811"/>
            <a:ext cx="9865465" cy="817531"/>
          </a:xfrm>
          <a:prstGeom prst="rect">
            <a:avLst/>
          </a:prstGeom>
        </p:spPr>
        <p:txBody>
          <a:bodyPr lIns="0" tIns="0" rIns="0" bIns="0" rtlCol="0" anchor="t">
            <a:spAutoFit/>
          </a:bodyPr>
          <a:lstStyle/>
          <a:p>
            <a:pPr algn="l">
              <a:lnSpc>
                <a:spcPts val="7000"/>
              </a:lnSpc>
            </a:pPr>
            <a:r>
              <a:rPr lang="en-US" sz="4800" b="1">
                <a:solidFill>
                  <a:srgbClr val="241955"/>
                </a:solidFill>
                <a:latin typeface="Times New Roman Bold"/>
                <a:ea typeface="Times New Roman Bold"/>
                <a:cs typeface="Times New Roman Bold"/>
                <a:sym typeface="Times New Roman Bold"/>
              </a:rPr>
              <a:t>Objectives</a:t>
            </a:r>
          </a:p>
        </p:txBody>
      </p:sp>
      <p:sp>
        <p:nvSpPr>
          <p:cNvPr id="8" name="Freeform 8"/>
          <p:cNvSpPr/>
          <p:nvPr/>
        </p:nvSpPr>
        <p:spPr>
          <a:xfrm>
            <a:off x="0" y="0"/>
            <a:ext cx="1923562" cy="1768990"/>
          </a:xfrm>
          <a:custGeom>
            <a:avLst/>
            <a:gdLst/>
            <a:ahLst/>
            <a:cxnLst/>
            <a:rect l="l" t="t" r="r" b="b"/>
            <a:pathLst>
              <a:path w="1923562" h="1768990">
                <a:moveTo>
                  <a:pt x="0" y="0"/>
                </a:moveTo>
                <a:lnTo>
                  <a:pt x="1923562" y="0"/>
                </a:lnTo>
                <a:lnTo>
                  <a:pt x="1923562" y="1768990"/>
                </a:lnTo>
                <a:lnTo>
                  <a:pt x="0" y="1768990"/>
                </a:lnTo>
                <a:lnTo>
                  <a:pt x="0" y="0"/>
                </a:lnTo>
                <a:close/>
              </a:path>
            </a:pathLst>
          </a:custGeom>
          <a:blipFill>
            <a:blip r:embed="rId8">
              <a:alphaModFix amt="84000"/>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EED9"/>
        </a:solidFill>
        <a:effectLst/>
      </p:bgPr>
    </p:bg>
    <p:spTree>
      <p:nvGrpSpPr>
        <p:cNvPr id="1" name=""/>
        <p:cNvGrpSpPr/>
        <p:nvPr/>
      </p:nvGrpSpPr>
      <p:grpSpPr>
        <a:xfrm>
          <a:off x="0" y="0"/>
          <a:ext cx="0" cy="0"/>
          <a:chOff x="0" y="0"/>
          <a:chExt cx="0" cy="0"/>
        </a:xfrm>
      </p:grpSpPr>
      <p:sp>
        <p:nvSpPr>
          <p:cNvPr id="4" name="Freeform 4"/>
          <p:cNvSpPr/>
          <p:nvPr/>
        </p:nvSpPr>
        <p:spPr>
          <a:xfrm>
            <a:off x="0" y="4272047"/>
            <a:ext cx="2045276" cy="3255080"/>
          </a:xfrm>
          <a:custGeom>
            <a:avLst/>
            <a:gdLst/>
            <a:ahLst/>
            <a:cxnLst/>
            <a:rect l="l" t="t" r="r" b="b"/>
            <a:pathLst>
              <a:path w="3549007" h="3255080">
                <a:moveTo>
                  <a:pt x="0" y="0"/>
                </a:moveTo>
                <a:lnTo>
                  <a:pt x="3549006" y="0"/>
                </a:lnTo>
                <a:lnTo>
                  <a:pt x="3549006" y="3255080"/>
                </a:lnTo>
                <a:lnTo>
                  <a:pt x="0" y="32550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0" y="0"/>
            <a:ext cx="1923562" cy="1768990"/>
          </a:xfrm>
          <a:custGeom>
            <a:avLst/>
            <a:gdLst/>
            <a:ahLst/>
            <a:cxnLst/>
            <a:rect l="l" t="t" r="r" b="b"/>
            <a:pathLst>
              <a:path w="1923562" h="1768990">
                <a:moveTo>
                  <a:pt x="0" y="0"/>
                </a:moveTo>
                <a:lnTo>
                  <a:pt x="1923562" y="0"/>
                </a:lnTo>
                <a:lnTo>
                  <a:pt x="1923562" y="1768990"/>
                </a:lnTo>
                <a:lnTo>
                  <a:pt x="0" y="1768990"/>
                </a:lnTo>
                <a:lnTo>
                  <a:pt x="0" y="0"/>
                </a:lnTo>
                <a:close/>
              </a:path>
            </a:pathLst>
          </a:custGeom>
          <a:blipFill>
            <a:blip r:embed="rId4">
              <a:alphaModFix amt="84000"/>
            </a:blip>
            <a:stretch>
              <a:fillRect/>
            </a:stretch>
          </a:blipFill>
        </p:spPr>
      </p:sp>
      <p:sp>
        <p:nvSpPr>
          <p:cNvPr id="7" name="TextBox 7"/>
          <p:cNvSpPr txBox="1"/>
          <p:nvPr/>
        </p:nvSpPr>
        <p:spPr>
          <a:xfrm>
            <a:off x="4909931" y="490811"/>
            <a:ext cx="9865465" cy="817531"/>
          </a:xfrm>
          <a:prstGeom prst="rect">
            <a:avLst/>
          </a:prstGeom>
        </p:spPr>
        <p:txBody>
          <a:bodyPr lIns="0" tIns="0" rIns="0" bIns="0" rtlCol="0" anchor="t">
            <a:spAutoFit/>
          </a:bodyPr>
          <a:lstStyle/>
          <a:p>
            <a:pPr algn="l">
              <a:lnSpc>
                <a:spcPts val="7000"/>
              </a:lnSpc>
            </a:pPr>
            <a:r>
              <a:rPr lang="en-US" sz="4800" b="1" dirty="0">
                <a:solidFill>
                  <a:srgbClr val="241955"/>
                </a:solidFill>
                <a:latin typeface="Times New Roman Bold"/>
                <a:ea typeface="Times New Roman Bold"/>
                <a:cs typeface="Times New Roman Bold"/>
                <a:sym typeface="Times New Roman Bold"/>
              </a:rPr>
              <a:t>Dataset Description</a:t>
            </a:r>
          </a:p>
        </p:txBody>
      </p:sp>
      <p:sp>
        <p:nvSpPr>
          <p:cNvPr id="8" name="TextBox 8"/>
          <p:cNvSpPr txBox="1"/>
          <p:nvPr/>
        </p:nvSpPr>
        <p:spPr>
          <a:xfrm>
            <a:off x="4909931" y="1678509"/>
            <a:ext cx="12349369" cy="8833187"/>
          </a:xfrm>
          <a:prstGeom prst="rect">
            <a:avLst/>
          </a:prstGeom>
        </p:spPr>
        <p:txBody>
          <a:bodyPr lIns="0" tIns="0" rIns="0" bIns="0" rtlCol="0" anchor="t">
            <a:spAutoFit/>
          </a:bodyPr>
          <a:lstStyle/>
          <a:p>
            <a:r>
              <a:rPr lang="en-US" sz="3200" dirty="0">
                <a:latin typeface="Times New Roman" panose="02020603050405020304" pitchFamily="18" charset="0"/>
                <a:cs typeface="Times New Roman" panose="02020603050405020304" pitchFamily="18" charset="0"/>
              </a:rPr>
              <a:t>The Boston Housing Dataset contains 506 rows and 13 features related to housing prices in the Boston area. The target variable is the median home value (MEDV). </a:t>
            </a:r>
          </a:p>
          <a:p>
            <a:endParaRPr lang="en-US" sz="3200" dirty="0">
              <a:latin typeface="Times New Roman" panose="02020603050405020304" pitchFamily="18" charset="0"/>
              <a:cs typeface="Times New Roman" panose="02020603050405020304" pitchFamily="18" charset="0"/>
            </a:endParaRPr>
          </a:p>
          <a:p>
            <a:r>
              <a:rPr lang="en-US" sz="3200" dirty="0">
                <a:solidFill>
                  <a:schemeClr val="tx2">
                    <a:lumMod val="50000"/>
                  </a:schemeClr>
                </a:solidFill>
                <a:latin typeface="Times New Roman" panose="02020603050405020304" pitchFamily="18" charset="0"/>
                <a:cs typeface="Times New Roman" panose="02020603050405020304" pitchFamily="18" charset="0"/>
              </a:rPr>
              <a:t>Key features include:</a:t>
            </a:r>
          </a:p>
          <a:p>
            <a:pPr>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CRIM:</a:t>
            </a:r>
            <a:r>
              <a:rPr lang="en-US" sz="3200" dirty="0">
                <a:latin typeface="Times New Roman" panose="02020603050405020304" pitchFamily="18" charset="0"/>
                <a:cs typeface="Times New Roman" panose="02020603050405020304" pitchFamily="18" charset="0"/>
              </a:rPr>
              <a:t> Crime rate by town</a:t>
            </a:r>
          </a:p>
          <a:p>
            <a:pPr>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ZN:</a:t>
            </a:r>
            <a:r>
              <a:rPr lang="en-US" sz="3200" dirty="0">
                <a:latin typeface="Times New Roman" panose="02020603050405020304" pitchFamily="18" charset="0"/>
                <a:cs typeface="Times New Roman" panose="02020603050405020304" pitchFamily="18" charset="0"/>
              </a:rPr>
              <a:t> Proportion of residential land for large lots</a:t>
            </a:r>
          </a:p>
          <a:p>
            <a:pPr>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INDUS:</a:t>
            </a:r>
            <a:r>
              <a:rPr lang="en-US" sz="3200" dirty="0">
                <a:latin typeface="Times New Roman" panose="02020603050405020304" pitchFamily="18" charset="0"/>
                <a:cs typeface="Times New Roman" panose="02020603050405020304" pitchFamily="18" charset="0"/>
              </a:rPr>
              <a:t> Proportion of non-retail business land</a:t>
            </a:r>
          </a:p>
          <a:p>
            <a:pPr>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CHAS:</a:t>
            </a:r>
            <a:r>
              <a:rPr lang="en-US" sz="3200" dirty="0">
                <a:latin typeface="Times New Roman" panose="02020603050405020304" pitchFamily="18" charset="0"/>
                <a:cs typeface="Times New Roman" panose="02020603050405020304" pitchFamily="18" charset="0"/>
              </a:rPr>
              <a:t> Charles River dummy (1 if tract bounds river)</a:t>
            </a:r>
          </a:p>
          <a:p>
            <a:pPr>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NOX:</a:t>
            </a:r>
            <a:r>
              <a:rPr lang="en-US" sz="3200" dirty="0">
                <a:latin typeface="Times New Roman" panose="02020603050405020304" pitchFamily="18" charset="0"/>
                <a:cs typeface="Times New Roman" panose="02020603050405020304" pitchFamily="18" charset="0"/>
              </a:rPr>
              <a:t> Nitrogen oxide concentration (air pollution)</a:t>
            </a:r>
          </a:p>
          <a:p>
            <a:pPr>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RM:</a:t>
            </a:r>
            <a:r>
              <a:rPr lang="en-US" sz="3200" dirty="0">
                <a:latin typeface="Times New Roman" panose="02020603050405020304" pitchFamily="18" charset="0"/>
                <a:cs typeface="Times New Roman" panose="02020603050405020304" pitchFamily="18" charset="0"/>
              </a:rPr>
              <a:t> Average number of rooms per dwelling</a:t>
            </a:r>
          </a:p>
          <a:p>
            <a:pPr>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AGE:</a:t>
            </a:r>
            <a:r>
              <a:rPr lang="en-US" sz="3200" dirty="0">
                <a:latin typeface="Times New Roman" panose="02020603050405020304" pitchFamily="18" charset="0"/>
                <a:cs typeface="Times New Roman" panose="02020603050405020304" pitchFamily="18" charset="0"/>
              </a:rPr>
              <a:t> Proportion of units built before 1940</a:t>
            </a:r>
          </a:p>
          <a:p>
            <a:pPr>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TAX:</a:t>
            </a:r>
            <a:r>
              <a:rPr lang="en-US" sz="3200" dirty="0">
                <a:latin typeface="Times New Roman" panose="02020603050405020304" pitchFamily="18" charset="0"/>
                <a:cs typeface="Times New Roman" panose="02020603050405020304" pitchFamily="18" charset="0"/>
              </a:rPr>
              <a:t> Property tax rate per $10,000</a:t>
            </a:r>
          </a:p>
          <a:p>
            <a:pPr>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LSTAT:</a:t>
            </a:r>
            <a:r>
              <a:rPr lang="en-US" sz="3200" dirty="0">
                <a:latin typeface="Times New Roman" panose="02020603050405020304" pitchFamily="18" charset="0"/>
                <a:cs typeface="Times New Roman" panose="02020603050405020304" pitchFamily="18" charset="0"/>
              </a:rPr>
              <a:t> Percentage of lower-status population</a:t>
            </a:r>
          </a:p>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This dataset helps analyze the factors influencing home prices and is used to build a regression model for price prediction.</a:t>
            </a:r>
          </a:p>
          <a:p>
            <a:endParaRPr lang="en-US" sz="3000" dirty="0">
              <a:solidFill>
                <a:srgbClr val="000000"/>
              </a:solidFill>
              <a:latin typeface="Times New Roman"/>
              <a:ea typeface="Times New Roman"/>
              <a:cs typeface="Times New Roman"/>
              <a:sym typeface="Times New Roman"/>
            </a:endParaRPr>
          </a:p>
        </p:txBody>
      </p:sp>
      <p:sp>
        <p:nvSpPr>
          <p:cNvPr id="12" name="Freeform 3">
            <a:extLst>
              <a:ext uri="{FF2B5EF4-FFF2-40B4-BE49-F238E27FC236}">
                <a16:creationId xmlns:a16="http://schemas.microsoft.com/office/drawing/2014/main" id="{07F1F58D-D3E7-DD7B-C31E-4812785B716E}"/>
              </a:ext>
            </a:extLst>
          </p:cNvPr>
          <p:cNvSpPr/>
          <p:nvPr/>
        </p:nvSpPr>
        <p:spPr>
          <a:xfrm>
            <a:off x="0" y="7200900"/>
            <a:ext cx="2557976" cy="30861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3" name="Freeform 2">
            <a:extLst>
              <a:ext uri="{FF2B5EF4-FFF2-40B4-BE49-F238E27FC236}">
                <a16:creationId xmlns:a16="http://schemas.microsoft.com/office/drawing/2014/main" id="{FD4E1495-DDD8-F9B8-0FB8-4D762D42A52D}"/>
              </a:ext>
            </a:extLst>
          </p:cNvPr>
          <p:cNvSpPr/>
          <p:nvPr/>
        </p:nvSpPr>
        <p:spPr>
          <a:xfrm flipH="1">
            <a:off x="2045275" y="6773619"/>
            <a:ext cx="1458698" cy="3513381"/>
          </a:xfrm>
          <a:custGeom>
            <a:avLst/>
            <a:gdLst/>
            <a:ahLst/>
            <a:cxnLst/>
            <a:rect l="l" t="t" r="r" b="b"/>
            <a:pathLst>
              <a:path w="1458698" h="4135485">
                <a:moveTo>
                  <a:pt x="1458699" y="0"/>
                </a:moveTo>
                <a:lnTo>
                  <a:pt x="0" y="0"/>
                </a:lnTo>
                <a:lnTo>
                  <a:pt x="0" y="4135485"/>
                </a:lnTo>
                <a:lnTo>
                  <a:pt x="1458699" y="4135485"/>
                </a:lnTo>
                <a:lnTo>
                  <a:pt x="1458699"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EED9"/>
        </a:solidFill>
        <a:effectLst/>
      </p:bgPr>
    </p:bg>
    <p:spTree>
      <p:nvGrpSpPr>
        <p:cNvPr id="1" name=""/>
        <p:cNvGrpSpPr/>
        <p:nvPr/>
      </p:nvGrpSpPr>
      <p:grpSpPr>
        <a:xfrm>
          <a:off x="0" y="0"/>
          <a:ext cx="0" cy="0"/>
          <a:chOff x="0" y="0"/>
          <a:chExt cx="0" cy="0"/>
        </a:xfrm>
      </p:grpSpPr>
      <p:sp>
        <p:nvSpPr>
          <p:cNvPr id="6" name="Freeform 6"/>
          <p:cNvSpPr/>
          <p:nvPr/>
        </p:nvSpPr>
        <p:spPr>
          <a:xfrm>
            <a:off x="0" y="0"/>
            <a:ext cx="1923562" cy="1768990"/>
          </a:xfrm>
          <a:custGeom>
            <a:avLst/>
            <a:gdLst/>
            <a:ahLst/>
            <a:cxnLst/>
            <a:rect l="l" t="t" r="r" b="b"/>
            <a:pathLst>
              <a:path w="1923562" h="1768990">
                <a:moveTo>
                  <a:pt x="0" y="0"/>
                </a:moveTo>
                <a:lnTo>
                  <a:pt x="1923562" y="0"/>
                </a:lnTo>
                <a:lnTo>
                  <a:pt x="1923562" y="1768990"/>
                </a:lnTo>
                <a:lnTo>
                  <a:pt x="0" y="1768990"/>
                </a:lnTo>
                <a:lnTo>
                  <a:pt x="0" y="0"/>
                </a:lnTo>
                <a:close/>
              </a:path>
            </a:pathLst>
          </a:custGeom>
          <a:blipFill>
            <a:blip r:embed="rId2">
              <a:alphaModFix amt="84000"/>
            </a:blip>
            <a:stretch>
              <a:fillRect/>
            </a:stretch>
          </a:blipFill>
        </p:spPr>
      </p:sp>
      <p:sp>
        <p:nvSpPr>
          <p:cNvPr id="7" name="TextBox 7"/>
          <p:cNvSpPr txBox="1"/>
          <p:nvPr/>
        </p:nvSpPr>
        <p:spPr>
          <a:xfrm>
            <a:off x="4909931" y="415669"/>
            <a:ext cx="10592148" cy="865622"/>
          </a:xfrm>
          <a:prstGeom prst="rect">
            <a:avLst/>
          </a:prstGeom>
        </p:spPr>
        <p:txBody>
          <a:bodyPr lIns="0" tIns="0" rIns="0" bIns="0" rtlCol="0" anchor="t">
            <a:spAutoFit/>
          </a:bodyPr>
          <a:lstStyle/>
          <a:p>
            <a:pPr algn="l">
              <a:lnSpc>
                <a:spcPts val="7500"/>
              </a:lnSpc>
            </a:pPr>
            <a:r>
              <a:rPr lang="en-US" sz="4800" b="1" dirty="0">
                <a:solidFill>
                  <a:srgbClr val="241955"/>
                </a:solidFill>
                <a:latin typeface="Times New Roman Bold"/>
                <a:ea typeface="Times New Roman Bold"/>
                <a:cs typeface="Times New Roman Bold"/>
                <a:sym typeface="Times New Roman Bold"/>
              </a:rPr>
              <a:t>System Architecture</a:t>
            </a:r>
          </a:p>
        </p:txBody>
      </p:sp>
      <p:sp>
        <p:nvSpPr>
          <p:cNvPr id="10" name="TextBox 10"/>
          <p:cNvSpPr txBox="1"/>
          <p:nvPr/>
        </p:nvSpPr>
        <p:spPr>
          <a:xfrm>
            <a:off x="4909931" y="7346152"/>
            <a:ext cx="12349369" cy="1055545"/>
          </a:xfrm>
          <a:prstGeom prst="rect">
            <a:avLst/>
          </a:prstGeom>
        </p:spPr>
        <p:txBody>
          <a:bodyPr lIns="0" tIns="0" rIns="0" bIns="0" rtlCol="0" anchor="t">
            <a:spAutoFit/>
          </a:bodyPr>
          <a:lstStyle/>
          <a:p>
            <a:pPr algn="just">
              <a:lnSpc>
                <a:spcPts val="4199"/>
              </a:lnSpc>
            </a:pPr>
            <a:r>
              <a:rPr lang="en-US" sz="3000" dirty="0">
                <a:solidFill>
                  <a:srgbClr val="000000"/>
                </a:solidFill>
                <a:latin typeface="Times New Roman"/>
                <a:ea typeface="Times New Roman"/>
                <a:cs typeface="Times New Roman"/>
                <a:sym typeface="Times New Roman"/>
              </a:rPr>
              <a:t>       </a:t>
            </a:r>
          </a:p>
          <a:p>
            <a:pPr algn="just">
              <a:lnSpc>
                <a:spcPts val="4509"/>
              </a:lnSpc>
            </a:pPr>
            <a:endParaRPr lang="en-US" sz="2799" dirty="0">
              <a:solidFill>
                <a:srgbClr val="000000"/>
              </a:solidFill>
              <a:latin typeface="Times New Roman"/>
              <a:ea typeface="Times New Roman"/>
              <a:cs typeface="Times New Roman"/>
              <a:sym typeface="Times New Roman"/>
            </a:endParaRPr>
          </a:p>
        </p:txBody>
      </p:sp>
      <p:sp>
        <p:nvSpPr>
          <p:cNvPr id="12" name="Freeform 2">
            <a:extLst>
              <a:ext uri="{FF2B5EF4-FFF2-40B4-BE49-F238E27FC236}">
                <a16:creationId xmlns:a16="http://schemas.microsoft.com/office/drawing/2014/main" id="{5BA7F4DD-0622-6013-E0F7-DB02C096675F}"/>
              </a:ext>
            </a:extLst>
          </p:cNvPr>
          <p:cNvSpPr/>
          <p:nvPr/>
        </p:nvSpPr>
        <p:spPr>
          <a:xfrm flipH="1">
            <a:off x="2045275" y="6773619"/>
            <a:ext cx="1458698" cy="3513381"/>
          </a:xfrm>
          <a:custGeom>
            <a:avLst/>
            <a:gdLst/>
            <a:ahLst/>
            <a:cxnLst/>
            <a:rect l="l" t="t" r="r" b="b"/>
            <a:pathLst>
              <a:path w="1458698" h="4135485">
                <a:moveTo>
                  <a:pt x="1458699" y="0"/>
                </a:moveTo>
                <a:lnTo>
                  <a:pt x="0" y="0"/>
                </a:lnTo>
                <a:lnTo>
                  <a:pt x="0" y="4135485"/>
                </a:lnTo>
                <a:lnTo>
                  <a:pt x="1458699" y="4135485"/>
                </a:lnTo>
                <a:lnTo>
                  <a:pt x="1458699"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3">
            <a:extLst>
              <a:ext uri="{FF2B5EF4-FFF2-40B4-BE49-F238E27FC236}">
                <a16:creationId xmlns:a16="http://schemas.microsoft.com/office/drawing/2014/main" id="{B182BFDB-1AA3-A411-EF97-5039F6878370}"/>
              </a:ext>
            </a:extLst>
          </p:cNvPr>
          <p:cNvSpPr/>
          <p:nvPr/>
        </p:nvSpPr>
        <p:spPr>
          <a:xfrm>
            <a:off x="0" y="7200900"/>
            <a:ext cx="2557976" cy="30861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4">
            <a:extLst>
              <a:ext uri="{FF2B5EF4-FFF2-40B4-BE49-F238E27FC236}">
                <a16:creationId xmlns:a16="http://schemas.microsoft.com/office/drawing/2014/main" id="{6B657083-8478-38A9-BD3A-3866C0CC94AE}"/>
              </a:ext>
            </a:extLst>
          </p:cNvPr>
          <p:cNvSpPr/>
          <p:nvPr/>
        </p:nvSpPr>
        <p:spPr>
          <a:xfrm>
            <a:off x="0" y="4272047"/>
            <a:ext cx="2045276" cy="3255080"/>
          </a:xfrm>
          <a:custGeom>
            <a:avLst/>
            <a:gdLst/>
            <a:ahLst/>
            <a:cxnLst/>
            <a:rect l="l" t="t" r="r" b="b"/>
            <a:pathLst>
              <a:path w="3549007" h="3255080">
                <a:moveTo>
                  <a:pt x="0" y="0"/>
                </a:moveTo>
                <a:lnTo>
                  <a:pt x="3549006" y="0"/>
                </a:lnTo>
                <a:lnTo>
                  <a:pt x="3549006" y="3255080"/>
                </a:lnTo>
                <a:lnTo>
                  <a:pt x="0" y="325508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9" name="Text Box 9">
            <a:extLst>
              <a:ext uri="{FF2B5EF4-FFF2-40B4-BE49-F238E27FC236}">
                <a16:creationId xmlns:a16="http://schemas.microsoft.com/office/drawing/2014/main" id="{58D398EF-BC45-4D2F-9748-858F85962F12}"/>
              </a:ext>
            </a:extLst>
          </p:cNvPr>
          <p:cNvSpPr txBox="1"/>
          <p:nvPr/>
        </p:nvSpPr>
        <p:spPr>
          <a:xfrm>
            <a:off x="6799393" y="10256267"/>
            <a:ext cx="5080000" cy="354330"/>
          </a:xfrm>
          <a:prstGeom prst="rect">
            <a:avLst/>
          </a:prstGeom>
        </p:spPr>
        <p:txBody>
          <a:bodyPr>
            <a:spAutoFit/>
          </a:bodyPr>
          <a:lstStyle/>
          <a:p>
            <a:pPr defTabSz="266700">
              <a:lnSpc>
                <a:spcPct val="107000"/>
              </a:lnSpc>
              <a:spcAft>
                <a:spcPts val="800"/>
              </a:spcAft>
            </a:pPr>
            <a:r>
              <a:rPr sz="1600">
                <a:latin typeface="Times New Roman" panose="02020603050405020304"/>
                <a:ea typeface="Aptos"/>
              </a:rPr>
              <a:t> </a:t>
            </a:r>
          </a:p>
        </p:txBody>
      </p:sp>
      <p:pic>
        <p:nvPicPr>
          <p:cNvPr id="5" name="Picture 4">
            <a:extLst>
              <a:ext uri="{FF2B5EF4-FFF2-40B4-BE49-F238E27FC236}">
                <a16:creationId xmlns:a16="http://schemas.microsoft.com/office/drawing/2014/main" id="{C9A581D6-60CA-4A2A-BD97-6FE5A4F9434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603251" y="1768990"/>
            <a:ext cx="12205707" cy="759383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EED9"/>
        </a:solidFill>
        <a:effectLst/>
      </p:bgPr>
    </p:bg>
    <p:spTree>
      <p:nvGrpSpPr>
        <p:cNvPr id="1" name=""/>
        <p:cNvGrpSpPr/>
        <p:nvPr/>
      </p:nvGrpSpPr>
      <p:grpSpPr>
        <a:xfrm>
          <a:off x="0" y="0"/>
          <a:ext cx="0" cy="0"/>
          <a:chOff x="0" y="0"/>
          <a:chExt cx="0" cy="0"/>
        </a:xfrm>
      </p:grpSpPr>
      <p:sp>
        <p:nvSpPr>
          <p:cNvPr id="6" name="Freeform 6"/>
          <p:cNvSpPr/>
          <p:nvPr/>
        </p:nvSpPr>
        <p:spPr>
          <a:xfrm>
            <a:off x="0" y="0"/>
            <a:ext cx="1923562" cy="1768990"/>
          </a:xfrm>
          <a:custGeom>
            <a:avLst/>
            <a:gdLst/>
            <a:ahLst/>
            <a:cxnLst/>
            <a:rect l="l" t="t" r="r" b="b"/>
            <a:pathLst>
              <a:path w="1923562" h="1768990">
                <a:moveTo>
                  <a:pt x="0" y="0"/>
                </a:moveTo>
                <a:lnTo>
                  <a:pt x="1923562" y="0"/>
                </a:lnTo>
                <a:lnTo>
                  <a:pt x="1923562" y="1768990"/>
                </a:lnTo>
                <a:lnTo>
                  <a:pt x="0" y="1768990"/>
                </a:lnTo>
                <a:lnTo>
                  <a:pt x="0" y="0"/>
                </a:lnTo>
                <a:close/>
              </a:path>
            </a:pathLst>
          </a:custGeom>
          <a:blipFill>
            <a:blip r:embed="rId2">
              <a:alphaModFix amt="84000"/>
            </a:blip>
            <a:stretch>
              <a:fillRect/>
            </a:stretch>
          </a:blipFill>
        </p:spPr>
      </p:sp>
      <p:sp>
        <p:nvSpPr>
          <p:cNvPr id="7" name="TextBox 7"/>
          <p:cNvSpPr txBox="1"/>
          <p:nvPr/>
        </p:nvSpPr>
        <p:spPr>
          <a:xfrm>
            <a:off x="4909931" y="472819"/>
            <a:ext cx="10592148" cy="721351"/>
          </a:xfrm>
          <a:prstGeom prst="rect">
            <a:avLst/>
          </a:prstGeom>
        </p:spPr>
        <p:txBody>
          <a:bodyPr lIns="0" tIns="0" rIns="0" bIns="0" rtlCol="0" anchor="t">
            <a:spAutoFit/>
          </a:bodyPr>
          <a:lstStyle/>
          <a:p>
            <a:pPr algn="l">
              <a:lnSpc>
                <a:spcPts val="5999"/>
              </a:lnSpc>
            </a:pPr>
            <a:r>
              <a:rPr lang="en-US" sz="4800" b="1" dirty="0">
                <a:solidFill>
                  <a:srgbClr val="241955"/>
                </a:solidFill>
                <a:latin typeface="Times New Roman Bold"/>
                <a:ea typeface="Times New Roman Bold"/>
                <a:cs typeface="Times New Roman Bold"/>
                <a:sym typeface="Times New Roman Bold"/>
              </a:rPr>
              <a:t>Model and Analysis</a:t>
            </a:r>
          </a:p>
        </p:txBody>
      </p:sp>
      <p:sp>
        <p:nvSpPr>
          <p:cNvPr id="8" name="TextBox 8"/>
          <p:cNvSpPr txBox="1"/>
          <p:nvPr/>
        </p:nvSpPr>
        <p:spPr>
          <a:xfrm>
            <a:off x="4909931" y="1616590"/>
            <a:ext cx="12349369" cy="8525154"/>
          </a:xfrm>
          <a:prstGeom prst="rect">
            <a:avLst/>
          </a:prstGeom>
        </p:spPr>
        <p:txBody>
          <a:bodyPr wrap="square" lIns="0" tIns="0" rIns="0" bIns="0" rtlCol="0" anchor="t">
            <a:spAutoFit/>
          </a:bodyPr>
          <a:lstStyle/>
          <a:p>
            <a:pPr algn="just"/>
            <a:r>
              <a:rPr lang="en-US" sz="2600" dirty="0">
                <a:latin typeface="Times New Roman" panose="02020603050405020304" pitchFamily="18" charset="0"/>
                <a:cs typeface="Times New Roman" panose="02020603050405020304" pitchFamily="18" charset="0"/>
              </a:rPr>
              <a:t>For predicting home prices, </a:t>
            </a:r>
            <a:r>
              <a:rPr lang="en-US" sz="2600" b="1" dirty="0">
                <a:latin typeface="Times New Roman" panose="02020603050405020304" pitchFamily="18" charset="0"/>
                <a:cs typeface="Times New Roman" panose="02020603050405020304" pitchFamily="18" charset="0"/>
              </a:rPr>
              <a:t>regression analysis</a:t>
            </a:r>
            <a:r>
              <a:rPr lang="en-US" sz="2600" dirty="0">
                <a:latin typeface="Times New Roman" panose="02020603050405020304" pitchFamily="18" charset="0"/>
                <a:cs typeface="Times New Roman" panose="02020603050405020304" pitchFamily="18" charset="0"/>
              </a:rPr>
              <a:t> is used to establish relationships between the target variable (MEDV) and the features in the dataset. The following steps were followed in the analysis:</a:t>
            </a:r>
          </a:p>
          <a:p>
            <a:pPr algn="just">
              <a:buFont typeface="+mj-lt"/>
              <a:buAutoNum type="arabicPeriod"/>
            </a:pPr>
            <a:r>
              <a:rPr lang="en-US" sz="2600" b="1" dirty="0">
                <a:latin typeface="Times New Roman" panose="02020603050405020304" pitchFamily="18" charset="0"/>
                <a:cs typeface="Times New Roman" panose="02020603050405020304" pitchFamily="18" charset="0"/>
              </a:rPr>
              <a:t>Data Preprocessing:</a:t>
            </a:r>
            <a:endParaRPr lang="en-US" sz="2600"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US" sz="2600" dirty="0">
                <a:latin typeface="Times New Roman" panose="02020603050405020304" pitchFamily="18" charset="0"/>
                <a:cs typeface="Times New Roman" panose="02020603050405020304" pitchFamily="18" charset="0"/>
              </a:rPr>
              <a:t>Cleaned the dataset by handling missing values and outliers.</a:t>
            </a:r>
          </a:p>
          <a:p>
            <a:pPr marL="742950" lvl="1" indent="-285750" algn="just">
              <a:buFont typeface="+mj-lt"/>
              <a:buAutoNum type="arabicPeriod"/>
            </a:pPr>
            <a:r>
              <a:rPr lang="en-US" sz="2600" dirty="0">
                <a:latin typeface="Times New Roman" panose="02020603050405020304" pitchFamily="18" charset="0"/>
                <a:cs typeface="Times New Roman" panose="02020603050405020304" pitchFamily="18" charset="0"/>
              </a:rPr>
              <a:t>Normalized or scaled numerical features to ensure consistency for model training.</a:t>
            </a:r>
          </a:p>
          <a:p>
            <a:pPr algn="just">
              <a:buFont typeface="+mj-lt"/>
              <a:buAutoNum type="arabicPeriod"/>
            </a:pPr>
            <a:r>
              <a:rPr lang="en-US" sz="2600" b="1" dirty="0">
                <a:latin typeface="Times New Roman" panose="02020603050405020304" pitchFamily="18" charset="0"/>
                <a:cs typeface="Times New Roman" panose="02020603050405020304" pitchFamily="18" charset="0"/>
              </a:rPr>
              <a:t>Model Selection:</a:t>
            </a:r>
            <a:endParaRPr lang="en-US" sz="2600"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US" sz="2600" b="1" dirty="0">
                <a:latin typeface="Times New Roman" panose="02020603050405020304" pitchFamily="18" charset="0"/>
                <a:cs typeface="Times New Roman" panose="02020603050405020304" pitchFamily="18" charset="0"/>
              </a:rPr>
              <a:t>Linear Regression</a:t>
            </a:r>
            <a:r>
              <a:rPr lang="en-US" sz="2600" dirty="0">
                <a:latin typeface="Times New Roman" panose="02020603050405020304" pitchFamily="18" charset="0"/>
                <a:cs typeface="Times New Roman" panose="02020603050405020304" pitchFamily="18" charset="0"/>
              </a:rPr>
              <a:t>: A simple and interpretable model to understand the relationship between independent variables and the target price.</a:t>
            </a:r>
          </a:p>
          <a:p>
            <a:pPr marL="742950" lvl="1" indent="-285750" algn="just">
              <a:buFont typeface="+mj-lt"/>
              <a:buAutoNum type="arabicPeriod"/>
            </a:pPr>
            <a:r>
              <a:rPr lang="en-US" sz="2600" b="1" dirty="0">
                <a:latin typeface="Times New Roman" panose="02020603050405020304" pitchFamily="18" charset="0"/>
                <a:cs typeface="Times New Roman" panose="02020603050405020304" pitchFamily="18" charset="0"/>
              </a:rPr>
              <a:t>Multiple Linear Regression</a:t>
            </a:r>
            <a:r>
              <a:rPr lang="en-US" sz="2600" dirty="0">
                <a:latin typeface="Times New Roman" panose="02020603050405020304" pitchFamily="18" charset="0"/>
                <a:cs typeface="Times New Roman" panose="02020603050405020304" pitchFamily="18" charset="0"/>
              </a:rPr>
              <a:t>: Used to analyze multiple features simultaneously to predict home prices.</a:t>
            </a:r>
          </a:p>
          <a:p>
            <a:pPr marL="742950" lvl="1" indent="-285750" algn="just">
              <a:buFont typeface="+mj-lt"/>
              <a:buAutoNum type="arabicPeriod"/>
            </a:pPr>
            <a:r>
              <a:rPr lang="en-US" sz="2600" b="1" dirty="0">
                <a:latin typeface="Times New Roman" panose="02020603050405020304" pitchFamily="18" charset="0"/>
                <a:cs typeface="Times New Roman" panose="02020603050405020304" pitchFamily="18" charset="0"/>
              </a:rPr>
              <a:t>Regularization Techniques</a:t>
            </a:r>
            <a:r>
              <a:rPr lang="en-US" sz="2600" dirty="0">
                <a:latin typeface="Times New Roman" panose="02020603050405020304" pitchFamily="18" charset="0"/>
                <a:cs typeface="Times New Roman" panose="02020603050405020304" pitchFamily="18" charset="0"/>
              </a:rPr>
              <a:t> (e.g., Ridge and Lasso): Applied to reduce overfitting by penalizing large coefficients and improving model generalization.</a:t>
            </a:r>
          </a:p>
          <a:p>
            <a:pPr algn="just">
              <a:buFont typeface="+mj-lt"/>
              <a:buAutoNum type="arabicPeriod"/>
            </a:pPr>
            <a:r>
              <a:rPr lang="en-US" sz="2600" b="1" dirty="0">
                <a:latin typeface="Times New Roman" panose="02020603050405020304" pitchFamily="18" charset="0"/>
                <a:cs typeface="Times New Roman" panose="02020603050405020304" pitchFamily="18" charset="0"/>
              </a:rPr>
              <a:t>Model Evaluation:</a:t>
            </a:r>
            <a:endParaRPr lang="en-US" sz="2600"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US" sz="2600" b="1" dirty="0">
                <a:latin typeface="Times New Roman" panose="02020603050405020304" pitchFamily="18" charset="0"/>
                <a:cs typeface="Times New Roman" panose="02020603050405020304" pitchFamily="18" charset="0"/>
              </a:rPr>
              <a:t>R-squared (R²)</a:t>
            </a:r>
            <a:r>
              <a:rPr lang="en-US" sz="2600" dirty="0">
                <a:latin typeface="Times New Roman" panose="02020603050405020304" pitchFamily="18" charset="0"/>
                <a:cs typeface="Times New Roman" panose="02020603050405020304" pitchFamily="18" charset="0"/>
              </a:rPr>
              <a:t>: Measures how well the model explains the variance in home prices.</a:t>
            </a:r>
          </a:p>
          <a:p>
            <a:pPr marL="742950" lvl="1" indent="-285750" algn="just">
              <a:buFont typeface="+mj-lt"/>
              <a:buAutoNum type="arabicPeriod"/>
            </a:pPr>
            <a:r>
              <a:rPr lang="en-US" sz="2600" b="1" dirty="0">
                <a:latin typeface="Times New Roman" panose="02020603050405020304" pitchFamily="18" charset="0"/>
                <a:cs typeface="Times New Roman" panose="02020603050405020304" pitchFamily="18" charset="0"/>
              </a:rPr>
              <a:t>Mean Squared Error (MSE)</a:t>
            </a:r>
            <a:r>
              <a:rPr lang="en-US" sz="2600" dirty="0">
                <a:latin typeface="Times New Roman" panose="02020603050405020304" pitchFamily="18" charset="0"/>
                <a:cs typeface="Times New Roman" panose="02020603050405020304" pitchFamily="18" charset="0"/>
              </a:rPr>
              <a:t>: Evaluates model accuracy by measuring the difference between predicted and actual </a:t>
            </a:r>
            <a:r>
              <a:rPr lang="en-US" sz="2600">
                <a:latin typeface="Times New Roman" panose="02020603050405020304" pitchFamily="18" charset="0"/>
                <a:cs typeface="Times New Roman" panose="02020603050405020304" pitchFamily="18" charset="0"/>
              </a:rPr>
              <a:t>prices.</a:t>
            </a:r>
          </a:p>
          <a:p>
            <a:pPr lvl="1" algn="just"/>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The regression models aim to find the most significant predictors and optimize them for accurate price predictions.</a:t>
            </a:r>
          </a:p>
          <a:p>
            <a:pPr algn="just">
              <a:lnSpc>
                <a:spcPts val="4500"/>
              </a:lnSpc>
            </a:pPr>
            <a:r>
              <a:rPr lang="en-US" sz="3000" dirty="0">
                <a:solidFill>
                  <a:srgbClr val="000000"/>
                </a:solidFill>
                <a:latin typeface="Times New Roman"/>
                <a:ea typeface="Times New Roman"/>
                <a:cs typeface="Times New Roman"/>
                <a:sym typeface="Times New Roman"/>
              </a:rPr>
              <a:t>.</a:t>
            </a:r>
          </a:p>
        </p:txBody>
      </p:sp>
      <p:sp>
        <p:nvSpPr>
          <p:cNvPr id="10" name="Freeform 4">
            <a:extLst>
              <a:ext uri="{FF2B5EF4-FFF2-40B4-BE49-F238E27FC236}">
                <a16:creationId xmlns:a16="http://schemas.microsoft.com/office/drawing/2014/main" id="{85BE0658-E2C5-659F-1B1F-989EC2A55EB3}"/>
              </a:ext>
            </a:extLst>
          </p:cNvPr>
          <p:cNvSpPr/>
          <p:nvPr/>
        </p:nvSpPr>
        <p:spPr>
          <a:xfrm>
            <a:off x="0" y="4272047"/>
            <a:ext cx="2045276" cy="3255080"/>
          </a:xfrm>
          <a:custGeom>
            <a:avLst/>
            <a:gdLst/>
            <a:ahLst/>
            <a:cxnLst/>
            <a:rect l="l" t="t" r="r" b="b"/>
            <a:pathLst>
              <a:path w="3549007" h="3255080">
                <a:moveTo>
                  <a:pt x="0" y="0"/>
                </a:moveTo>
                <a:lnTo>
                  <a:pt x="3549006" y="0"/>
                </a:lnTo>
                <a:lnTo>
                  <a:pt x="3549006" y="3255080"/>
                </a:lnTo>
                <a:lnTo>
                  <a:pt x="0" y="325508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3">
            <a:extLst>
              <a:ext uri="{FF2B5EF4-FFF2-40B4-BE49-F238E27FC236}">
                <a16:creationId xmlns:a16="http://schemas.microsoft.com/office/drawing/2014/main" id="{276EDAC4-FB38-9554-F599-C5255B4BECDC}"/>
              </a:ext>
            </a:extLst>
          </p:cNvPr>
          <p:cNvSpPr/>
          <p:nvPr/>
        </p:nvSpPr>
        <p:spPr>
          <a:xfrm>
            <a:off x="0" y="7200900"/>
            <a:ext cx="2557976" cy="30861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Freeform 2">
            <a:extLst>
              <a:ext uri="{FF2B5EF4-FFF2-40B4-BE49-F238E27FC236}">
                <a16:creationId xmlns:a16="http://schemas.microsoft.com/office/drawing/2014/main" id="{159CA819-0956-9F19-79D6-274683C292CE}"/>
              </a:ext>
            </a:extLst>
          </p:cNvPr>
          <p:cNvSpPr/>
          <p:nvPr/>
        </p:nvSpPr>
        <p:spPr>
          <a:xfrm flipH="1">
            <a:off x="2045275" y="6773619"/>
            <a:ext cx="1458698" cy="3513381"/>
          </a:xfrm>
          <a:custGeom>
            <a:avLst/>
            <a:gdLst/>
            <a:ahLst/>
            <a:cxnLst/>
            <a:rect l="l" t="t" r="r" b="b"/>
            <a:pathLst>
              <a:path w="1458698" h="4135485">
                <a:moveTo>
                  <a:pt x="1458699" y="0"/>
                </a:moveTo>
                <a:lnTo>
                  <a:pt x="0" y="0"/>
                </a:lnTo>
                <a:lnTo>
                  <a:pt x="0" y="4135485"/>
                </a:lnTo>
                <a:lnTo>
                  <a:pt x="1458699" y="4135485"/>
                </a:lnTo>
                <a:lnTo>
                  <a:pt x="1458699"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EED9"/>
        </a:solidFill>
        <a:effectLst/>
      </p:bgPr>
    </p:bg>
    <p:spTree>
      <p:nvGrpSpPr>
        <p:cNvPr id="1" name=""/>
        <p:cNvGrpSpPr/>
        <p:nvPr/>
      </p:nvGrpSpPr>
      <p:grpSpPr>
        <a:xfrm>
          <a:off x="0" y="0"/>
          <a:ext cx="0" cy="0"/>
          <a:chOff x="0" y="0"/>
          <a:chExt cx="0" cy="0"/>
        </a:xfrm>
      </p:grpSpPr>
      <p:sp>
        <p:nvSpPr>
          <p:cNvPr id="6" name="Freeform 6"/>
          <p:cNvSpPr/>
          <p:nvPr/>
        </p:nvSpPr>
        <p:spPr>
          <a:xfrm>
            <a:off x="0" y="0"/>
            <a:ext cx="1923562" cy="1768990"/>
          </a:xfrm>
          <a:custGeom>
            <a:avLst/>
            <a:gdLst/>
            <a:ahLst/>
            <a:cxnLst/>
            <a:rect l="l" t="t" r="r" b="b"/>
            <a:pathLst>
              <a:path w="1923562" h="1768990">
                <a:moveTo>
                  <a:pt x="0" y="0"/>
                </a:moveTo>
                <a:lnTo>
                  <a:pt x="1923562" y="0"/>
                </a:lnTo>
                <a:lnTo>
                  <a:pt x="1923562" y="1768990"/>
                </a:lnTo>
                <a:lnTo>
                  <a:pt x="0" y="1768990"/>
                </a:lnTo>
                <a:lnTo>
                  <a:pt x="0" y="0"/>
                </a:lnTo>
                <a:close/>
              </a:path>
            </a:pathLst>
          </a:custGeom>
          <a:blipFill>
            <a:blip r:embed="rId2">
              <a:alphaModFix amt="84000"/>
            </a:blip>
            <a:stretch>
              <a:fillRect/>
            </a:stretch>
          </a:blipFill>
        </p:spPr>
      </p:sp>
      <p:sp>
        <p:nvSpPr>
          <p:cNvPr id="7" name="TextBox 7"/>
          <p:cNvSpPr txBox="1"/>
          <p:nvPr/>
        </p:nvSpPr>
        <p:spPr>
          <a:xfrm>
            <a:off x="4909931" y="415669"/>
            <a:ext cx="10592148" cy="865622"/>
          </a:xfrm>
          <a:prstGeom prst="rect">
            <a:avLst/>
          </a:prstGeom>
        </p:spPr>
        <p:txBody>
          <a:bodyPr lIns="0" tIns="0" rIns="0" bIns="0" rtlCol="0" anchor="t">
            <a:spAutoFit/>
          </a:bodyPr>
          <a:lstStyle/>
          <a:p>
            <a:pPr algn="l">
              <a:lnSpc>
                <a:spcPts val="7500"/>
              </a:lnSpc>
            </a:pPr>
            <a:r>
              <a:rPr lang="en-US" sz="4800" b="1" dirty="0">
                <a:solidFill>
                  <a:srgbClr val="241955"/>
                </a:solidFill>
                <a:latin typeface="Times New Roman Bold"/>
                <a:ea typeface="Times New Roman Bold"/>
                <a:cs typeface="Times New Roman Bold"/>
                <a:sym typeface="Times New Roman Bold"/>
              </a:rPr>
              <a:t>Results</a:t>
            </a:r>
          </a:p>
        </p:txBody>
      </p:sp>
      <p:sp>
        <p:nvSpPr>
          <p:cNvPr id="8" name="TextBox 8"/>
          <p:cNvSpPr txBox="1"/>
          <p:nvPr/>
        </p:nvSpPr>
        <p:spPr>
          <a:xfrm>
            <a:off x="4909931" y="1562100"/>
            <a:ext cx="12349369" cy="2266454"/>
          </a:xfrm>
          <a:prstGeom prst="rect">
            <a:avLst/>
          </a:prstGeom>
        </p:spPr>
        <p:txBody>
          <a:bodyPr lIns="0" tIns="0" rIns="0" bIns="0" rtlCol="0" anchor="t">
            <a:spAutoFit/>
          </a:bodyPr>
          <a:lstStyle/>
          <a:p>
            <a:pPr marL="514350" indent="-514350" algn="just">
              <a:lnSpc>
                <a:spcPts val="4500"/>
              </a:lnSpc>
              <a:buAutoNum type="arabicPeriod"/>
            </a:pPr>
            <a:r>
              <a:rPr lang="en-US" sz="3100" b="1" dirty="0">
                <a:solidFill>
                  <a:srgbClr val="241955"/>
                </a:solidFill>
                <a:latin typeface="Times New Roman Bold"/>
                <a:ea typeface="Times New Roman Bold"/>
                <a:cs typeface="Times New Roman Bold"/>
                <a:sym typeface="Times New Roman Bold"/>
              </a:rPr>
              <a:t>Random Forest Regression:</a:t>
            </a:r>
          </a:p>
          <a:p>
            <a:pPr algn="just">
              <a:lnSpc>
                <a:spcPts val="4500"/>
              </a:lnSpc>
            </a:pPr>
            <a:r>
              <a:rPr lang="en-US" sz="3100" b="1" dirty="0">
                <a:solidFill>
                  <a:srgbClr val="241955"/>
                </a:solidFill>
                <a:latin typeface="Times New Roman Bold"/>
                <a:ea typeface="Times New Roman Bold"/>
                <a:cs typeface="Times New Roman Bold"/>
                <a:sym typeface="Times New Roman Bold"/>
              </a:rPr>
              <a:t>     </a:t>
            </a:r>
            <a:r>
              <a:rPr lang="en-US" sz="3100" dirty="0"/>
              <a:t>Achieved high accuracy with closely aligned predictions and true values.</a:t>
            </a:r>
          </a:p>
          <a:p>
            <a:pPr algn="just">
              <a:lnSpc>
                <a:spcPts val="4500"/>
              </a:lnSpc>
            </a:pPr>
            <a:r>
              <a:rPr lang="en-US" sz="3100" b="1" dirty="0">
                <a:solidFill>
                  <a:srgbClr val="241955"/>
                </a:solidFill>
                <a:latin typeface="Times New Roman Bold"/>
                <a:ea typeface="Times New Roman Bold"/>
                <a:cs typeface="Times New Roman Bold"/>
                <a:sym typeface="Times New Roman Bold"/>
              </a:rPr>
              <a:t>2. </a:t>
            </a:r>
            <a:r>
              <a:rPr lang="en-US" sz="3100" b="1" dirty="0" err="1">
                <a:solidFill>
                  <a:srgbClr val="241955"/>
                </a:solidFill>
                <a:latin typeface="Times New Roman Bold"/>
                <a:ea typeface="Times New Roman Bold"/>
                <a:cs typeface="Times New Roman Bold"/>
                <a:sym typeface="Times New Roman Bold"/>
              </a:rPr>
              <a:t>XGBoost</a:t>
            </a:r>
            <a:r>
              <a:rPr lang="en-US" sz="3100" b="1" dirty="0">
                <a:solidFill>
                  <a:srgbClr val="241955"/>
                </a:solidFill>
                <a:latin typeface="Times New Roman Bold"/>
                <a:ea typeface="Times New Roman Bold"/>
                <a:cs typeface="Times New Roman Bold"/>
                <a:sym typeface="Times New Roman Bold"/>
              </a:rPr>
              <a:t> Forest Regression:</a:t>
            </a:r>
          </a:p>
          <a:p>
            <a:pPr algn="just">
              <a:lnSpc>
                <a:spcPts val="4500"/>
              </a:lnSpc>
            </a:pPr>
            <a:r>
              <a:rPr lang="en-US" sz="3100" dirty="0"/>
              <a:t>    Delivered efficient predictions with minimal deviations from true values.</a:t>
            </a:r>
            <a:endParaRPr lang="en-US" sz="3100" b="1" dirty="0">
              <a:solidFill>
                <a:srgbClr val="241955"/>
              </a:solidFill>
              <a:latin typeface="Times New Roman Bold"/>
              <a:ea typeface="Times New Roman Bold"/>
              <a:cs typeface="Times New Roman Bold"/>
              <a:sym typeface="Times New Roman Bold"/>
            </a:endParaRPr>
          </a:p>
        </p:txBody>
      </p:sp>
      <p:sp>
        <p:nvSpPr>
          <p:cNvPr id="10" name="Freeform 2">
            <a:extLst>
              <a:ext uri="{FF2B5EF4-FFF2-40B4-BE49-F238E27FC236}">
                <a16:creationId xmlns:a16="http://schemas.microsoft.com/office/drawing/2014/main" id="{109138F1-9AC5-57D3-9E88-D726C6212AB9}"/>
              </a:ext>
            </a:extLst>
          </p:cNvPr>
          <p:cNvSpPr/>
          <p:nvPr/>
        </p:nvSpPr>
        <p:spPr>
          <a:xfrm flipH="1">
            <a:off x="2045275" y="6773619"/>
            <a:ext cx="1458698" cy="3513381"/>
          </a:xfrm>
          <a:custGeom>
            <a:avLst/>
            <a:gdLst/>
            <a:ahLst/>
            <a:cxnLst/>
            <a:rect l="l" t="t" r="r" b="b"/>
            <a:pathLst>
              <a:path w="1458698" h="4135485">
                <a:moveTo>
                  <a:pt x="1458699" y="0"/>
                </a:moveTo>
                <a:lnTo>
                  <a:pt x="0" y="0"/>
                </a:lnTo>
                <a:lnTo>
                  <a:pt x="0" y="4135485"/>
                </a:lnTo>
                <a:lnTo>
                  <a:pt x="1458699" y="4135485"/>
                </a:lnTo>
                <a:lnTo>
                  <a:pt x="1458699"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3">
            <a:extLst>
              <a:ext uri="{FF2B5EF4-FFF2-40B4-BE49-F238E27FC236}">
                <a16:creationId xmlns:a16="http://schemas.microsoft.com/office/drawing/2014/main" id="{3E2BDB94-C5E2-CA80-088B-AA361100577F}"/>
              </a:ext>
            </a:extLst>
          </p:cNvPr>
          <p:cNvSpPr/>
          <p:nvPr/>
        </p:nvSpPr>
        <p:spPr>
          <a:xfrm>
            <a:off x="0" y="7200900"/>
            <a:ext cx="2557976" cy="30861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Freeform 4">
            <a:extLst>
              <a:ext uri="{FF2B5EF4-FFF2-40B4-BE49-F238E27FC236}">
                <a16:creationId xmlns:a16="http://schemas.microsoft.com/office/drawing/2014/main" id="{6FE5F812-203B-7575-224D-C38327031007}"/>
              </a:ext>
            </a:extLst>
          </p:cNvPr>
          <p:cNvSpPr/>
          <p:nvPr/>
        </p:nvSpPr>
        <p:spPr>
          <a:xfrm>
            <a:off x="0" y="4272047"/>
            <a:ext cx="2045276" cy="3255080"/>
          </a:xfrm>
          <a:custGeom>
            <a:avLst/>
            <a:gdLst/>
            <a:ahLst/>
            <a:cxnLst/>
            <a:rect l="l" t="t" r="r" b="b"/>
            <a:pathLst>
              <a:path w="3549007" h="3255080">
                <a:moveTo>
                  <a:pt x="0" y="0"/>
                </a:moveTo>
                <a:lnTo>
                  <a:pt x="3549006" y="0"/>
                </a:lnTo>
                <a:lnTo>
                  <a:pt x="3549006" y="3255080"/>
                </a:lnTo>
                <a:lnTo>
                  <a:pt x="0" y="325508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pic>
        <p:nvPicPr>
          <p:cNvPr id="14" name="Picture 13">
            <a:extLst>
              <a:ext uri="{FF2B5EF4-FFF2-40B4-BE49-F238E27FC236}">
                <a16:creationId xmlns:a16="http://schemas.microsoft.com/office/drawing/2014/main" id="{D44B5155-6842-4F8F-8243-234A724C427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032515" y="4269259"/>
            <a:ext cx="6068629" cy="4878702"/>
          </a:xfrm>
          <a:prstGeom prst="rect">
            <a:avLst/>
          </a:prstGeom>
        </p:spPr>
      </p:pic>
      <p:pic>
        <p:nvPicPr>
          <p:cNvPr id="16" name="Picture 15">
            <a:extLst>
              <a:ext uri="{FF2B5EF4-FFF2-40B4-BE49-F238E27FC236}">
                <a16:creationId xmlns:a16="http://schemas.microsoft.com/office/drawing/2014/main" id="{EA528725-382B-4380-A288-1F0C938391C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629686" y="4319877"/>
            <a:ext cx="6068629" cy="490748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EED9"/>
        </a:solidFill>
        <a:effectLst/>
      </p:bgPr>
    </p:bg>
    <p:spTree>
      <p:nvGrpSpPr>
        <p:cNvPr id="1" name=""/>
        <p:cNvGrpSpPr/>
        <p:nvPr/>
      </p:nvGrpSpPr>
      <p:grpSpPr>
        <a:xfrm>
          <a:off x="0" y="0"/>
          <a:ext cx="0" cy="0"/>
          <a:chOff x="0" y="0"/>
          <a:chExt cx="0" cy="0"/>
        </a:xfrm>
      </p:grpSpPr>
      <p:sp>
        <p:nvSpPr>
          <p:cNvPr id="6" name="Freeform 6"/>
          <p:cNvSpPr/>
          <p:nvPr/>
        </p:nvSpPr>
        <p:spPr>
          <a:xfrm>
            <a:off x="0" y="0"/>
            <a:ext cx="1923562" cy="1768990"/>
          </a:xfrm>
          <a:custGeom>
            <a:avLst/>
            <a:gdLst/>
            <a:ahLst/>
            <a:cxnLst/>
            <a:rect l="l" t="t" r="r" b="b"/>
            <a:pathLst>
              <a:path w="1923562" h="1768990">
                <a:moveTo>
                  <a:pt x="0" y="0"/>
                </a:moveTo>
                <a:lnTo>
                  <a:pt x="1923562" y="0"/>
                </a:lnTo>
                <a:lnTo>
                  <a:pt x="1923562" y="1768990"/>
                </a:lnTo>
                <a:lnTo>
                  <a:pt x="0" y="1768990"/>
                </a:lnTo>
                <a:lnTo>
                  <a:pt x="0" y="0"/>
                </a:lnTo>
                <a:close/>
              </a:path>
            </a:pathLst>
          </a:custGeom>
          <a:blipFill>
            <a:blip r:embed="rId2">
              <a:alphaModFix amt="84000"/>
            </a:blip>
            <a:stretch>
              <a:fillRect/>
            </a:stretch>
          </a:blipFill>
        </p:spPr>
      </p:sp>
      <p:sp>
        <p:nvSpPr>
          <p:cNvPr id="7" name="TextBox 7"/>
          <p:cNvSpPr txBox="1"/>
          <p:nvPr/>
        </p:nvSpPr>
        <p:spPr>
          <a:xfrm>
            <a:off x="4909931" y="415669"/>
            <a:ext cx="10592148" cy="865622"/>
          </a:xfrm>
          <a:prstGeom prst="rect">
            <a:avLst/>
          </a:prstGeom>
        </p:spPr>
        <p:txBody>
          <a:bodyPr lIns="0" tIns="0" rIns="0" bIns="0" rtlCol="0" anchor="t">
            <a:spAutoFit/>
          </a:bodyPr>
          <a:lstStyle/>
          <a:p>
            <a:pPr algn="l">
              <a:lnSpc>
                <a:spcPts val="7500"/>
              </a:lnSpc>
            </a:pPr>
            <a:r>
              <a:rPr lang="en-US" sz="4800" b="1" dirty="0">
                <a:solidFill>
                  <a:srgbClr val="241955"/>
                </a:solidFill>
                <a:latin typeface="Times New Roman Bold"/>
                <a:ea typeface="Times New Roman Bold"/>
                <a:cs typeface="Times New Roman Bold"/>
                <a:sym typeface="Times New Roman Bold"/>
              </a:rPr>
              <a:t>Conclusion</a:t>
            </a:r>
          </a:p>
        </p:txBody>
      </p:sp>
      <p:sp>
        <p:nvSpPr>
          <p:cNvPr id="8" name="TextBox 8"/>
          <p:cNvSpPr txBox="1"/>
          <p:nvPr/>
        </p:nvSpPr>
        <p:spPr>
          <a:xfrm>
            <a:off x="4909931" y="1616590"/>
            <a:ext cx="12349369" cy="4562531"/>
          </a:xfrm>
          <a:prstGeom prst="rect">
            <a:avLst/>
          </a:prstGeom>
        </p:spPr>
        <p:txBody>
          <a:bodyPr lIns="0" tIns="0" rIns="0" bIns="0" rtlCol="0" anchor="t">
            <a:spAutoFit/>
          </a:bodyPr>
          <a:lstStyle/>
          <a:p>
            <a:pPr marL="323851" lvl="1" algn="just">
              <a:lnSpc>
                <a:spcPts val="4500"/>
              </a:lnSpc>
            </a:pPr>
            <a:r>
              <a:rPr lang="en-US" sz="3000" dirty="0">
                <a:latin typeface="Times New Roman"/>
                <a:ea typeface="Times New Roman"/>
                <a:cs typeface="Times New Roman"/>
                <a:sym typeface="Times New Roman"/>
              </a:rPr>
              <a:t>The project successfully demonstrated the use of regression models for predicting home prices using Boston Housing Dataset. Random Forest and </a:t>
            </a:r>
            <a:r>
              <a:rPr lang="en-US" sz="3000" dirty="0" err="1">
                <a:latin typeface="Times New Roman"/>
                <a:ea typeface="Times New Roman"/>
                <a:cs typeface="Times New Roman"/>
                <a:sym typeface="Times New Roman"/>
              </a:rPr>
              <a:t>XGBoost</a:t>
            </a:r>
            <a:r>
              <a:rPr lang="en-US" sz="3000" dirty="0">
                <a:latin typeface="Times New Roman"/>
                <a:ea typeface="Times New Roman"/>
                <a:cs typeface="Times New Roman"/>
                <a:sym typeface="Times New Roman"/>
              </a:rPr>
              <a:t> models provided accurate predictions by capturing complex patterns in the data. </a:t>
            </a:r>
          </a:p>
          <a:p>
            <a:pPr marL="323851" lvl="1" algn="just">
              <a:lnSpc>
                <a:spcPts val="4500"/>
              </a:lnSpc>
            </a:pPr>
            <a:r>
              <a:rPr lang="en-US" sz="3000" dirty="0">
                <a:latin typeface="Times New Roman"/>
                <a:ea typeface="Times New Roman"/>
                <a:cs typeface="Times New Roman"/>
                <a:sym typeface="Times New Roman"/>
              </a:rPr>
              <a:t>This analysis highlighted the significance of  key factors influencing housing prices and showcased the practical application of machine learning in real estate. This project reinforces the importance of data-driven decision-making in dynamic market like real estate.</a:t>
            </a:r>
            <a:endParaRPr lang="en-US" sz="3000" dirty="0">
              <a:solidFill>
                <a:srgbClr val="241955"/>
              </a:solidFill>
              <a:latin typeface="Times New Roman"/>
              <a:ea typeface="Times New Roman"/>
              <a:cs typeface="Times New Roman"/>
              <a:sym typeface="Times New Roman"/>
            </a:endParaRPr>
          </a:p>
        </p:txBody>
      </p:sp>
      <p:sp>
        <p:nvSpPr>
          <p:cNvPr id="10" name="Freeform 4">
            <a:extLst>
              <a:ext uri="{FF2B5EF4-FFF2-40B4-BE49-F238E27FC236}">
                <a16:creationId xmlns:a16="http://schemas.microsoft.com/office/drawing/2014/main" id="{75DACD53-AE69-911A-90C4-B4883C59F588}"/>
              </a:ext>
            </a:extLst>
          </p:cNvPr>
          <p:cNvSpPr/>
          <p:nvPr/>
        </p:nvSpPr>
        <p:spPr>
          <a:xfrm>
            <a:off x="0" y="4272047"/>
            <a:ext cx="2045276" cy="3255080"/>
          </a:xfrm>
          <a:custGeom>
            <a:avLst/>
            <a:gdLst/>
            <a:ahLst/>
            <a:cxnLst/>
            <a:rect l="l" t="t" r="r" b="b"/>
            <a:pathLst>
              <a:path w="3549007" h="3255080">
                <a:moveTo>
                  <a:pt x="0" y="0"/>
                </a:moveTo>
                <a:lnTo>
                  <a:pt x="3549006" y="0"/>
                </a:lnTo>
                <a:lnTo>
                  <a:pt x="3549006" y="3255080"/>
                </a:lnTo>
                <a:lnTo>
                  <a:pt x="0" y="325508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3">
            <a:extLst>
              <a:ext uri="{FF2B5EF4-FFF2-40B4-BE49-F238E27FC236}">
                <a16:creationId xmlns:a16="http://schemas.microsoft.com/office/drawing/2014/main" id="{6E7FC163-B968-19FE-4EE3-F8CFBA37AC17}"/>
              </a:ext>
            </a:extLst>
          </p:cNvPr>
          <p:cNvSpPr/>
          <p:nvPr/>
        </p:nvSpPr>
        <p:spPr>
          <a:xfrm>
            <a:off x="0" y="7200900"/>
            <a:ext cx="2557976" cy="30861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Freeform 2">
            <a:extLst>
              <a:ext uri="{FF2B5EF4-FFF2-40B4-BE49-F238E27FC236}">
                <a16:creationId xmlns:a16="http://schemas.microsoft.com/office/drawing/2014/main" id="{2CF9AFE2-F8F2-808C-1413-1F6CE6F00870}"/>
              </a:ext>
            </a:extLst>
          </p:cNvPr>
          <p:cNvSpPr/>
          <p:nvPr/>
        </p:nvSpPr>
        <p:spPr>
          <a:xfrm flipH="1">
            <a:off x="2045275" y="6773619"/>
            <a:ext cx="1458698" cy="3513381"/>
          </a:xfrm>
          <a:custGeom>
            <a:avLst/>
            <a:gdLst/>
            <a:ahLst/>
            <a:cxnLst/>
            <a:rect l="l" t="t" r="r" b="b"/>
            <a:pathLst>
              <a:path w="1458698" h="4135485">
                <a:moveTo>
                  <a:pt x="1458699" y="0"/>
                </a:moveTo>
                <a:lnTo>
                  <a:pt x="0" y="0"/>
                </a:lnTo>
                <a:lnTo>
                  <a:pt x="0" y="4135485"/>
                </a:lnTo>
                <a:lnTo>
                  <a:pt x="1458699" y="4135485"/>
                </a:lnTo>
                <a:lnTo>
                  <a:pt x="1458699" y="0"/>
                </a:lnTo>
                <a:close/>
              </a:path>
            </a:pathLst>
          </a:custGeom>
          <a:blipFill>
            <a:blip r:embed="rId7">
              <a:extLst>
                <a:ext uri="{96DAC541-7B7A-43D3-8B79-37D633B846F1}">
                  <asvg:svgBlip xmlns:asvg="http://schemas.microsoft.com/office/drawing/2016/SVG/main" r:embed="rId8"/>
                </a:ext>
              </a:extLst>
            </a:blip>
            <a:stretch>
              <a:fillRect/>
            </a:stretch>
          </a:blipFill>
        </p:spPr>
      </p:sp>
      <p:pic>
        <p:nvPicPr>
          <p:cNvPr id="14" name="Picture 13">
            <a:extLst>
              <a:ext uri="{FF2B5EF4-FFF2-40B4-BE49-F238E27FC236}">
                <a16:creationId xmlns:a16="http://schemas.microsoft.com/office/drawing/2014/main" id="{0D266E33-9BF9-4D79-A1BE-A5120894A15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077200" y="6396141"/>
            <a:ext cx="4419600" cy="353615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EED9"/>
        </a:solidFill>
        <a:effectLst/>
      </p:bgPr>
    </p:bg>
    <p:spTree>
      <p:nvGrpSpPr>
        <p:cNvPr id="1" name=""/>
        <p:cNvGrpSpPr/>
        <p:nvPr/>
      </p:nvGrpSpPr>
      <p:grpSpPr>
        <a:xfrm>
          <a:off x="0" y="0"/>
          <a:ext cx="0" cy="0"/>
          <a:chOff x="0" y="0"/>
          <a:chExt cx="0" cy="0"/>
        </a:xfrm>
      </p:grpSpPr>
      <p:sp>
        <p:nvSpPr>
          <p:cNvPr id="2" name="TextBox 2"/>
          <p:cNvSpPr txBox="1"/>
          <p:nvPr/>
        </p:nvSpPr>
        <p:spPr>
          <a:xfrm>
            <a:off x="1747583" y="2932555"/>
            <a:ext cx="14792835" cy="4583815"/>
          </a:xfrm>
          <a:prstGeom prst="rect">
            <a:avLst/>
          </a:prstGeom>
        </p:spPr>
        <p:txBody>
          <a:bodyPr lIns="0" tIns="0" rIns="0" bIns="0" rtlCol="0" anchor="t">
            <a:spAutoFit/>
          </a:bodyPr>
          <a:lstStyle/>
          <a:p>
            <a:pPr algn="ctr">
              <a:lnSpc>
                <a:spcPts val="16021"/>
              </a:lnSpc>
            </a:pPr>
            <a:r>
              <a:rPr lang="en-US" sz="17801" dirty="0">
                <a:solidFill>
                  <a:srgbClr val="241955"/>
                </a:solidFill>
                <a:latin typeface="Times New Roman"/>
                <a:ea typeface="Times New Roman"/>
                <a:cs typeface="Times New Roman"/>
                <a:sym typeface="Times New Roman"/>
              </a:rPr>
              <a:t>Thank</a:t>
            </a:r>
          </a:p>
          <a:p>
            <a:pPr algn="ctr">
              <a:lnSpc>
                <a:spcPts val="16021"/>
              </a:lnSpc>
            </a:pPr>
            <a:r>
              <a:rPr lang="en-US" sz="17801" dirty="0">
                <a:solidFill>
                  <a:srgbClr val="241955"/>
                </a:solidFill>
                <a:latin typeface="Times New Roman"/>
                <a:ea typeface="Times New Roman"/>
                <a:cs typeface="Times New Roman"/>
                <a:sym typeface="Times New Roman"/>
              </a:rPr>
              <a:t>You</a:t>
            </a:r>
          </a:p>
        </p:txBody>
      </p:sp>
      <p:sp>
        <p:nvSpPr>
          <p:cNvPr id="9" name="Freeform 9"/>
          <p:cNvSpPr/>
          <p:nvPr/>
        </p:nvSpPr>
        <p:spPr>
          <a:xfrm>
            <a:off x="0" y="0"/>
            <a:ext cx="1923562" cy="1768990"/>
          </a:xfrm>
          <a:custGeom>
            <a:avLst/>
            <a:gdLst/>
            <a:ahLst/>
            <a:cxnLst/>
            <a:rect l="l" t="t" r="r" b="b"/>
            <a:pathLst>
              <a:path w="1923562" h="1768990">
                <a:moveTo>
                  <a:pt x="0" y="0"/>
                </a:moveTo>
                <a:lnTo>
                  <a:pt x="1923562" y="0"/>
                </a:lnTo>
                <a:lnTo>
                  <a:pt x="1923562" y="1768990"/>
                </a:lnTo>
                <a:lnTo>
                  <a:pt x="0" y="1768990"/>
                </a:lnTo>
                <a:lnTo>
                  <a:pt x="0" y="0"/>
                </a:lnTo>
                <a:close/>
              </a:path>
            </a:pathLst>
          </a:custGeom>
          <a:blipFill>
            <a:blip r:embed="rId2">
              <a:alphaModFix amt="84000"/>
            </a:blip>
            <a:stretch>
              <a:fillRect/>
            </a:stretch>
          </a:blipFill>
        </p:spPr>
      </p:sp>
      <p:sp>
        <p:nvSpPr>
          <p:cNvPr id="10" name="Freeform 2">
            <a:extLst>
              <a:ext uri="{FF2B5EF4-FFF2-40B4-BE49-F238E27FC236}">
                <a16:creationId xmlns:a16="http://schemas.microsoft.com/office/drawing/2014/main" id="{9A3784F2-CA0F-09A7-8B3A-B3CC996E7F04}"/>
              </a:ext>
            </a:extLst>
          </p:cNvPr>
          <p:cNvSpPr/>
          <p:nvPr/>
        </p:nvSpPr>
        <p:spPr>
          <a:xfrm flipH="1">
            <a:off x="2045275" y="6773619"/>
            <a:ext cx="1458698" cy="3513381"/>
          </a:xfrm>
          <a:custGeom>
            <a:avLst/>
            <a:gdLst/>
            <a:ahLst/>
            <a:cxnLst/>
            <a:rect l="l" t="t" r="r" b="b"/>
            <a:pathLst>
              <a:path w="1458698" h="4135485">
                <a:moveTo>
                  <a:pt x="1458699" y="0"/>
                </a:moveTo>
                <a:lnTo>
                  <a:pt x="0" y="0"/>
                </a:lnTo>
                <a:lnTo>
                  <a:pt x="0" y="4135485"/>
                </a:lnTo>
                <a:lnTo>
                  <a:pt x="1458699" y="4135485"/>
                </a:lnTo>
                <a:lnTo>
                  <a:pt x="1458699"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3">
            <a:extLst>
              <a:ext uri="{FF2B5EF4-FFF2-40B4-BE49-F238E27FC236}">
                <a16:creationId xmlns:a16="http://schemas.microsoft.com/office/drawing/2014/main" id="{D02A8085-21BA-841F-D26A-E8884E559B3A}"/>
              </a:ext>
            </a:extLst>
          </p:cNvPr>
          <p:cNvSpPr/>
          <p:nvPr/>
        </p:nvSpPr>
        <p:spPr>
          <a:xfrm>
            <a:off x="0" y="7200900"/>
            <a:ext cx="2557976" cy="30861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Freeform 4">
            <a:extLst>
              <a:ext uri="{FF2B5EF4-FFF2-40B4-BE49-F238E27FC236}">
                <a16:creationId xmlns:a16="http://schemas.microsoft.com/office/drawing/2014/main" id="{76364EC1-DB6A-F214-D637-FDFAAE0DA44C}"/>
              </a:ext>
            </a:extLst>
          </p:cNvPr>
          <p:cNvSpPr/>
          <p:nvPr/>
        </p:nvSpPr>
        <p:spPr>
          <a:xfrm>
            <a:off x="0" y="4272047"/>
            <a:ext cx="2045276" cy="3255080"/>
          </a:xfrm>
          <a:custGeom>
            <a:avLst/>
            <a:gdLst/>
            <a:ahLst/>
            <a:cxnLst/>
            <a:rect l="l" t="t" r="r" b="b"/>
            <a:pathLst>
              <a:path w="3549007" h="3255080">
                <a:moveTo>
                  <a:pt x="0" y="0"/>
                </a:moveTo>
                <a:lnTo>
                  <a:pt x="3549006" y="0"/>
                </a:lnTo>
                <a:lnTo>
                  <a:pt x="3549006" y="3255080"/>
                </a:lnTo>
                <a:lnTo>
                  <a:pt x="0" y="325508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TotalTime>
  <Words>844</Words>
  <Application>Microsoft Office PowerPoint</Application>
  <PresentationFormat>Custom</PresentationFormat>
  <Paragraphs>72</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Times New Roman</vt:lpstr>
      <vt:lpstr>Times New Roman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Cream and Pink Leaves Project Presentation</dc:title>
  <cp:lastModifiedBy>Haras</cp:lastModifiedBy>
  <cp:revision>31</cp:revision>
  <dcterms:created xsi:type="dcterms:W3CDTF">2006-08-16T00:00:00Z</dcterms:created>
  <dcterms:modified xsi:type="dcterms:W3CDTF">2025-01-28T14:02:36Z</dcterms:modified>
  <dc:identifier>DAGdURubUdY</dc:identifier>
</cp:coreProperties>
</file>